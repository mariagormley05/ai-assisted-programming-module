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3"/>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643C40-E432-453B-92F5-60AF84F2336E}" v="4" dt="2025-10-09T21:24:32.1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6/11/relationships/changesInfo" Target="changesInfos/changesInfo1.xml"/><Relationship Id="rId9" Type="http://schemas.microsoft.com/office/2015/10/relationships/revisionInfo" Target="revisionInfo.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iel Cregg" userId="a4417ebc-d1f9-4266-8a6c-2c7f21bbea7f" providerId="ADAL" clId="{AF643C40-E432-453B-92F5-60AF84F2336E}"/>
    <pc:docChg chg="addSld modSld">
      <pc:chgData name="Daniel Cregg" userId="a4417ebc-d1f9-4266-8a6c-2c7f21bbea7f" providerId="ADAL" clId="{AF643C40-E432-453B-92F5-60AF84F2336E}" dt="2025-10-09T21:24:34.582" v="83" actId="6549"/>
      <pc:docMkLst>
        <pc:docMk/>
      </pc:docMkLst>
      <pc:sldChg chg="modSp new mod">
        <pc:chgData name="Daniel Cregg" userId="a4417ebc-d1f9-4266-8a6c-2c7f21bbea7f" providerId="ADAL" clId="{AF643C40-E432-453B-92F5-60AF84F2336E}" dt="2025-10-09T21:24:11.088" v="47" actId="20577"/>
        <pc:sldMkLst>
          <pc:docMk/>
          <pc:sldMk cId="3497088910" sldId="256"/>
        </pc:sldMkLst>
        <pc:spChg chg="mod">
          <ac:chgData name="Daniel Cregg" userId="a4417ebc-d1f9-4266-8a6c-2c7f21bbea7f" providerId="ADAL" clId="{AF643C40-E432-453B-92F5-60AF84F2336E}" dt="2025-10-09T21:24:03.176" v="22" actId="20577"/>
          <ac:spMkLst>
            <pc:docMk/>
            <pc:sldMk cId="3497088910" sldId="256"/>
            <ac:spMk id="2" creationId="{F2D37440-44C7-9EA2-81BB-0250D2A15B73}"/>
          </ac:spMkLst>
        </pc:spChg>
        <pc:spChg chg="mod">
          <ac:chgData name="Daniel Cregg" userId="a4417ebc-d1f9-4266-8a6c-2c7f21bbea7f" providerId="ADAL" clId="{AF643C40-E432-453B-92F5-60AF84F2336E}" dt="2025-10-09T21:24:11.088" v="47" actId="20577"/>
          <ac:spMkLst>
            <pc:docMk/>
            <pc:sldMk cId="3497088910" sldId="256"/>
            <ac:spMk id="3" creationId="{4397FD6A-9BDB-EFA7-CAB2-E629A2C9718C}"/>
          </ac:spMkLst>
        </pc:spChg>
      </pc:sldChg>
      <pc:sldChg chg="modSp new mod">
        <pc:chgData name="Daniel Cregg" userId="a4417ebc-d1f9-4266-8a6c-2c7f21bbea7f" providerId="ADAL" clId="{AF643C40-E432-453B-92F5-60AF84F2336E}" dt="2025-10-09T21:24:34.582" v="83" actId="6549"/>
        <pc:sldMkLst>
          <pc:docMk/>
          <pc:sldMk cId="1135524420" sldId="257"/>
        </pc:sldMkLst>
        <pc:spChg chg="mod">
          <ac:chgData name="Daniel Cregg" userId="a4417ebc-d1f9-4266-8a6c-2c7f21bbea7f" providerId="ADAL" clId="{AF643C40-E432-453B-92F5-60AF84F2336E}" dt="2025-10-09T21:24:19.752" v="60" actId="20577"/>
          <ac:spMkLst>
            <pc:docMk/>
            <pc:sldMk cId="1135524420" sldId="257"/>
            <ac:spMk id="2" creationId="{C30C990F-C0FF-6121-03C7-FCDD7E7BBDBB}"/>
          </ac:spMkLst>
        </pc:spChg>
        <pc:spChg chg="mod">
          <ac:chgData name="Daniel Cregg" userId="a4417ebc-d1f9-4266-8a6c-2c7f21bbea7f" providerId="ADAL" clId="{AF643C40-E432-453B-92F5-60AF84F2336E}" dt="2025-10-09T21:24:34.582" v="83" actId="6549"/>
          <ac:spMkLst>
            <pc:docMk/>
            <pc:sldMk cId="1135524420" sldId="257"/>
            <ac:spMk id="3" creationId="{5C7784A8-CFDD-8862-CFCD-414464AEBDF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 Title slide. This lecture has one job: give the room a MODEL of what the tool is, accurate enough to predict its behaviour. Everything else depends on that model. A student who thinks the assistant "looks things up" will be confused by hallucination for months; one who knows it predicts text will find hallucination obvious.</a:t>
            </a:r>
          </a:p>
          <a:p/>
          <a:p>
            <a:r>
              <a:t>Part 1 gives the model at the level of WHAT: prediction, not retrieval, and what follows from it. Part 2 opens it up to HOW: tokens, the context window, the ranked list of next tokens, and what each of those lets you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~0:02. The hook: the completion everyone has seen and nobody has asked about. Two questions sit under it, and the two hours answer them in order. "How did it know?" is answered by prediction over context — the signature is context, and a body is what usually follows a signature. "Why is it confidently wrong?" is answered by the same mechanism: plausible is the target, and nothing checks.</a:t>
            </a:r>
          </a:p>
          <a:p/>
          <a:p>
            <a:r>
              <a:t>Leave both unanswered here. They are answered on "The one idea" slide and closed properly on "The question, answered" near the end. The gap between the two is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 THE idea of the two hours, and the single most useful sentence in them.</a:t>
            </a:r>
          </a:p>
          <a:p/>
          <a:p>
            <a:r>
              <a:t>The misconception this kills: students assume the tool SEARCHES — that it has a database of code and finds the matching snippet. That model predicts "it can only give me code that exists", which is wrong, and makes hallucination inexplicable. Prediction explains both the magic and the failures with one mechanism, which is why it is taught first and why part 2 comes back to open it 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~0:06. Agenda, and the shape of the two hours. Part 1 is the model at the level of WHAT it does; part 2 is HOW it does it, which is where the useful habits come from — what to show it, how to frame the ask, and when to open a fresh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The mechanism at the level of behaviour, one slide, no more. Architecture is not needed to predict what the tool will do, and part 2 goes one level deeper anyway.</a:t>
            </a:r>
          </a:p>
          <a:p/>
          <a:p>
            <a:r>
              <a:t>The three consequences are the payload, and each will be visible in their own work within a fortnight: plausible is the target; it cannot report the edge of its own knowledge; and the context is the only input, so changing the context is the only steering.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~0:11. PREDICT beat 1: what a next-token predictor does when asked to use something that does not exist. The concept under test is that "I don't know" is a continuation like any other, and in raw text a rare one.</a:t>
            </a:r>
          </a:p>
          <a:p/>
          <a:p>
            <a:r>
              <a:t>The room will split, and both halves are worth hearing. (a) is what prediction alone produces: a confident continuation is far more common in training text than an admission of ignorance, so the plausible next token is a plausible-looking function. (b) is what a current assistant usually does with this well-known example, because post-training pushed the correction up the ranking. The faulty model to catch is projected honesty: a human expert who did not know would say so, so the tool will too. The tool has no sense of not knowing; when it says the function does not exist, that reply was trained to be the plausible one. The reveal separates the two, and the lab reproduces the fiction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The reveal and the name. Left to the raw mechanism, it writes the code, because a confident continuation is more plausible than an admission of ignorance; the mechanism works exactly as designed.</a:t>
            </a:r>
          </a:p>
          <a:p/>
          <a:p>
            <a:r>
              <a:t>The example has moved since it was written. Put to three current assistants in fresh chats in September 2026, all three said the function does not exist and wrote a read_excel version, with no tool call: the catch is in the weights, from post-training, not in a product layer. Teach the two halves of the slide as raw prediction versus what training added. Training made "that does not exist" the more plausible reply for a famous library; nothing in the loop checks either way, so where that training is thin, a niche library or an API renamed after the cutoff, the fiction returns. The point survives: where no check has been added, this is what you get.</a:t>
            </a:r>
          </a:p>
          <a:p/>
          <a:p>
            <a:r>
              <a:t>Name it, hallucination, and plant one forward reference without elaborating: attackers can register the names it invents, so this behaviour is also an attack surface. Part 2's ranked-list slide explains why the same prompt tends to land on the same invention.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~0:18. Recognising the shape of one, because the lab asks them to produce a hallucination on purpose and then recognise it later when it costs something. The concept: fluency is evidence of plausibility and of nothing else, so there is no tell inside the text — the check is always outside it.</a:t>
            </a:r>
          </a:p>
          <a:p/>
          <a:p>
            <a:r>
              <a:t>The characteristic error is looking harder at the text for a sign it is wrong. Students expect a hallucination to look slightly off — odd naming, a hedge, a wobble — because that is how a human bluff looks. It does not: the invented name follows the library's own naming pattern, and a real argument (engine="openpyxl" is a genuine read_excel argument) sits on the fictional function. The habit to build is "verify outside", not "read more carefully".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~0:21. The four shapes, told apart by what each may change before you see anything. This is the slide that ages fastest, so it teaches the CATEGORIES and treats named products as examples that will change; saying so out loud keeps the slide useful in two years. The shapes differ in how the prediction is wrapped, not in the predictor, so everything said so far applies to all four.</a:t>
            </a:r>
          </a:p>
          <a:p/>
          <a:p>
            <a:r>
              <a:t>The concept: as the shape moves down the list, the tool acts earlier and you review later, so the thing you review changes from a suggestion, to advice, to a diff, to an outcome. The misconception: students see the four as the same tool with more or less typing saved. The faulty model is "same output, different convenience". In fact the review point moves. An agent that asks permission before each command lets you review step by step, which is what the lab's agent task shows when it stops before running the tests; one allowed to run without asking has changed files and run commands before there is anything to look at. "What did I review, and when?" is the question that separates the rows.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 Genuinely good at, and meant sincerely — a lecture that only warns gets discounted, and the room already knows these tools are useful.</a:t>
            </a:r>
          </a:p>
          <a:p/>
          <a:p>
            <a:r>
              <a:t>The unifying property is the concept: every item is a task where the right answer is CONVENTIONAL, and conventional is exactly what a predictor of plausible text is best at. Part 2 gives the reason — it learned the statistics of what usually follows what — so this slide is the WHAT and the tokens slide is the WHY.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The mirror image, and the symmetry is deliberate: the same mechanism explains both lists, which is the whole point of teaching prediction first. Novel is not typical; recent is not in the training text; your conventions are not in the context; counting and arithmetic are done on tokens rather than letters or digits, and part 2 says why.</a:t>
            </a:r>
          </a:p>
          <a:p/>
          <a:p>
            <a:r>
              <a:t>The one that costs students most is the third: it does not know their codebase unless they show it. Half of "the AI is useless here" complaints are context problems, and part 2's context-window slide is where the reason lives.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~0:33. PREDICT beat 2: does the quality of the answer depend on the tool, or on what you put in front of it? The concept is that the second prompt supplies a DECISION the tool would otherwise have to guess.</a:t>
            </a:r>
          </a:p>
          <a:p/>
          <a:p>
            <a:r>
              <a:t>The wrong answer to expect is "they are equivalent — it knows Python, so it knows what a valid email is". The faulty model is that the tool has one fixed level of competence, like a compiler. It does not: quality is a function of the context, and B removes a guess. This sets up context engineering directly, and the lab has them run both prompts.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~0:37. The reveal and the lesson. B wins, and not because it is longer — because it makes a decision the tool would otherwise make for you, silently and probably wrong for your case.</a:t>
            </a:r>
          </a:p>
          <a:p/>
          <a:p>
            <a:r>
              <a:t>The concept to land: validation strictness is a product decision, and a text predictor hands an unspecified decision to whatever was most common in its training text. The gap between those two answers is skill, and it is learnable — that is the optimistic note of the two hours, and it is true.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What the job becomes. This answers the anxious question in the room, which is usually "does this replace me", and it is answered directly: generating code got cheap; deciding what should exist, supplying the context, and judging what arrived did not. That is a more senior job than the one it replaced, not a lesser one.</a:t>
            </a:r>
          </a:p>
          <a:p/>
          <a:p>
            <a:r>
              <a:t>The layers map onto the rest of the lecture: the middle two are what part 2 teaches how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 PREDICT beat 3, the honest one. The concept is that the productivity effect is real, modest, and depends on the task more than on the tool — and that perceived and measured speed come apart.</a:t>
            </a:r>
          </a:p>
          <a:p/>
          <a:p>
            <a:r>
              <a:t>The wrong answer to expect is a large single number, usually "10x". The faulty model is that a tool has a fixed speed-up, absorbed from marketing. Controlled studies find smaller and highly task-dependent effects, and some find experienced developers on familiar code get SLOWER while feeling faster — the 2025 METR randomised trial of experienced open-source developers is the best-known example. The perception gap is the finding worth remembering.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~0:47. The honest answer: the last two options are both right, and "feels faster than it is" is the one that changes behaviour, because it means your own sense of the tool's value is not reliable evidence.</a:t>
            </a:r>
          </a:p>
          <a:p/>
          <a:p>
            <a:r>
              <a:t>Say plainly that headline productivity numbers in vendor material are marketing; measured effects are real but modest and task-dependent. This buys credibility for everything else in the lecture, including the mechanism in part 2.</a:t>
            </a:r>
          </a:p>
          <a:p/>
          <a:p>
            <a:r>
              <a:t>The learning bullets come from Anthropic's randomised trial, published in January 2026: 52 mostly junior developers learned an unfamiliar Python library (Trio), randomly split between coding with an AI assistant and coding by hand. The AI group finished only about two minutes faster, not a significant difference, and scored lower on a follow-up quiz, 50% against 67%, with the widest gap on debugging questions. Those who asked it conceptual questions, or asked for explanations alongside the code, kept most of their learning. It is one study of 52 people, so teach the direction, not the decimal points; the direction is what matters to a room of learners, and it is the evidence behind "Why 'explain' is the safer ask"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practical prompt to leave the room with. The important move is not just "be honest"; it is to define what counts as evidence and what to do when evidence is absent. Cite the source, then check that the source really supports the claim. A model can follow this instruction and still fail, so verification remains outside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~0:53. The bridge to part 2. Part 1 has given a model of WHAT the tool does; these four questions are ones that model cannot answer, and every one of them bites students in the first fortnight. Part 2 answers all four with one more level of mechanism: tokens, the context window, frozen weights, and a ranked list of next tokens.</a:t>
            </a:r>
          </a:p>
          <a:p/>
          <a:p>
            <a:r>
              <a:t>Nothing is revealed here. The slide exists so the room goes into the break holding questions rather than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Break. Part 2 answers one question: how does "predict the next token" actually work — tokens in, a ranked list out, one picked, over a context that is finite and starts empty — and what does that let you do about it. The habits that follow are the point: show it the file, put the decision in the ask, and open a fresh conversation when you want a check rather than a continuation.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Part 2 opens one level down: what the model actually sees. Text is chopped into TOKENS — pieces of words, punctuation, runs of spaces — and every token becomes a number before the model sees it. It does not read letter by letter, and it does not read code as code; a line of Python is a sequence of pieces, the same as a line of prose.</a:t>
            </a:r>
          </a:p>
          <a:p/>
          <a:p>
            <a:r>
              <a:t>Two consequences pay off part 1. Counting letters and doing arithmetic are hard because the units it works in are not letters or digits. And "conventional" is what it is good at because the first and largest round of training was one job: learn from an enormous amount of text which pieces usually follow which. A second, smaller round then rewards the replies people prefer, which is how "that function does not exist" climbed the ranking for famous libraries. The split shown is illustrative — different tools cut text differently, and the exact boundaries are not the point.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The loop from "What follows from prediction", one level down: its three boxes become these four. Two facts to carry out of it. First: nothing inside the network changes between steps — the same fixed numbers score every candidate every time; only the sequence grows, by one token, and the whole sequence is fed back in. Second: there is no step labelled "check". Correctness is not computed anywhere; a token is chosen because it is likely given everything before it, and that is the entire criterion.</a:t>
            </a:r>
          </a:p>
          <a:p/>
          <a:p>
            <a:r>
              <a:t>This is the HOW behind part 1's "plausible is the target", and it is the slide to teach from if a student asks why the tool cannot simply verify its own answer: verification is not a stage in the loop, so it only happens if you make it part of the context — a test, a document, a direct question.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The context window: the complete list of what the model can see and — the half students need — what it cannot. The context is the instructions the tool adds, the conversation so far INCLUDING its own earlier replies, whatever files were attached or pasted, and nothing else. It is finite; what does not fit is not seen.</a:t>
            </a:r>
          </a:p>
          <a:p/>
          <a:p>
            <a:r>
              <a:t>The concept that fixes the commonest complaint: the model does not know a file exists because the file is in the same folder. "It can see the repo" is false unless the tool put the file into the context. The lab's DIY on explaining a file with and without it open is this slide as an exercise. And its own earlier replies being context is the seed of the fresh-conversation predict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PREDICT beat 4: does the tool learn from being used? The concept under test is that the network is fixed and the context starts empty, so nothing said in one conversation reaches the next unless something puts it there.</a:t>
            </a:r>
          </a:p>
          <a:p/>
          <a:p>
            <a:r>
              <a:t>The wrong answer to expect is (a), "it follows the convention — I told it yesterday". The faulty model is a colleague: someone who learns your preferences by working with you. The tool is not one. The weights were set once, in training; typing at it changes the context and nothing else; and a new conversation is a new, empty context. If a tool does appear to remember, in practice it is re-inserting saved text into the context — which is worth knowing, because that text can be read, edited, and deleted.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The reveal: no. The concept is the split the table draws — what was fixed in training versus what you change every message — and it explains two of part 1's failure modes at once. "Recent" fails because the training snapshot has a cutoff and the weights do not move. "Your conventions" fails because they are not in the snapshot and not in today's context.</a:t>
            </a:r>
          </a:p>
          <a:p/>
          <a:p>
            <a:r>
              <a:t>The practical consequence is the habit to build: anything you want it to know every time — conventions, decisions, the shape of the project — has to be written down somewhere the tool puts into the context each time. Whether that is a pasted note or a standing instructions file, it is context, and it is yours to maintain.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The honest refinement of part 1's headline. "It does not look things up" is true of the model; the PRODUCT around it may add tools — a search, a file read, a test run — and the students' own tools do. The concept is what a tool result is: text that gets pasted into the context and then predicted over, exactly like anything else there. The mechanism did not change; the context got a new ingredient.</a:t>
            </a:r>
          </a:p>
          <a:p/>
          <a:p>
            <a:r>
              <a:t>Why it matters: a looked-up fact can still be misread, quoted wrongly, or outvoted by what was "typical", because the step after the lookup is still prediction. So a tool that searches has raised the odds, not removed the job of checking. This also sets up the "explain a file" predict — the file has to actually be in the context.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The ranked list, and with it the HOW behind predict 1. After "write a function that uses read_excel_fast()", the candidates for the next piece are ranked by how often such a request has been followed by each kind of text. Code that uses the named function is the overwhelming pattern; "that does not exist" is a rare continuation of a request phrased as if it exists, in raw text. Post-training moved that reply up the list for well-known libraries, which is why today's assistants usually catch this one; the presupposition is still in the request, and for a name the training never corrected, it still wins. The request PRESUPPOSED the function, and the ranking inherited the presupposition.</a:t>
            </a:r>
          </a:p>
          <a:p/>
          <a:p>
            <a:r>
              <a:t>Two further consequences. Sampling: the pick is usually a likely candidate, not always the top one, so the same prompt gives different answers on different runs — that is not a malfunction. Stability: when the wrong answer is the top candidate, sampling keeps landing on it, so the same fiction comes back again and again — different in detail, same in kind.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PREDICT beat 5: same knowledge, different question. The concept under test is that the question shapes the ranked list — "write code using X" presupposes X, "does X exist?" invites a factual answer — and that a fresh conversation removes its own earlier code from the context, so there is nothing to stay consistent with.</a:t>
            </a:r>
          </a:p>
          <a:p/>
          <a:p>
            <a:r>
              <a:t>The wrong answer to expect is "it insists the function exists — it just wrote it". The faulty model is that the tool holds beliefs and defends them across conversations. It holds no belief; it has a context. In the SAME conversation the wrong answer is more likely, because the code it wrote is now context and continuing consistently is the plausible pattern — which is why "fresh" is in the question. The second-commonest wrong answer, "it cannot know", comes from thinking the first answer showed it lacked the knowledge; it did not, it showed it was never asked. The lab's hallucination exercise makes the same move from the other side: the fiction's traceback goes into a fresh conversation, and the model that wrote the fiction diagnoses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The reveal: usually the truth, and the line to land: it had the information; nothing in the first prompt made it check. The knowledge of the real pandas API was in the weights both times. What changed is the context: a direct factual question ranks a factual answer at the top, and a fresh conversation contains no code of its own to stay consistent with.</a:t>
            </a:r>
          </a:p>
          <a:p/>
          <a:p>
            <a:r>
              <a:t>The two habits that follow are the useful output of this slide. Ask for a check as a check, not buried inside a request that assumes the answer. And ask it in a fresh conversation, because in the one that produced the code, the code is now context and "yes, that's right" is the plausible continuation of its own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PREDICT beat 6, and the second worked case — different in kind from part 1's: an EXPLAIN task rather than a write task, and a context failure rather than a knowledge failure. The concept under test is that a filename in the prompt is context like any other, and a description of what such a file typically does is a more plausible continuation than "I cannot see it".</a:t>
            </a:r>
          </a:p>
          <a:p/>
          <a:p>
            <a:r>
              <a:t>The answer is (a) and (c) together: current assistants usually give a one-line disclaimer and then describe the file anyway. The wrong answer to expect is a bare (a), "it says it cannot see the file" and stops there. The faulty model is that the tool has a sense of what it has and has not read — a boundary it can report. It does not; it has a context, and the context contains a filename, so the top-ranked continuation is what files with that name usually do. If a student's tool does say it cannot see the file, that is the better behaviour and the fix is identical: put the file in the context. The lab's DIY on explaining a file with and without it open is this predict, run for real.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The reveal: a fluent description of a typical backup script, and the concept is the TELL — "typically", "usually", "a script like this" are the words a predictor produces when the context has a name and no content. They are the honest part of the answer, and students read straight past them.</a:t>
            </a:r>
          </a:p>
          <a:p/>
          <a:p>
            <a:r>
              <a:t>Note what is and is not wrong here. Nothing in the reply is false about backup scripts in general; none of it is known to be true about this one. That is the characteristic shape of a context failure: generic, hedged, and confident about the category rather than the instance. The next slide puts the file in and the answer changes completely.</a:t>
            </a:r>
          </a:p>
          <a:p/>
          <a:p>
            <a:r>
              <a:t>The reply on the slide carries the disclaimer current assistants usually open with, because the lesson is the same either way: the disclaimer is read past as quickly as the hedge words. A tool with workspace access may instead read the file unasked, which is the next slide's fix, applied for you.</a:t>
            </a:r>
          </a:p>
          <a:p/>
          <a:p>
            <a:r>
              <a:t>This is the counterpart of "What a hallucination looks like", which says a hallucination has no tell in the text. Both are true, and the difference is the lesson: a knowledge failure is confident and specific, a context failure hedges and stays generic.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Same question with the file in the context, and the answer is now specific, checkable against the code on the slide, and different in the one way that matters: the file deletes, it does not copy. The concept is the lab's line — the model was not smarter the second time, it could see more — and the practical test that follows from it: if you can check the explanation against the code in front of you, you gave it the code; if you cannot, it is guessing.</a:t>
            </a:r>
          </a:p>
          <a:p/>
          <a:p>
            <a:r>
              <a:t>Note the change in vocabulary: no "typically", no "usually". Specific names, specific numbers, specific behaviour. That shift is the fastest way to tell the two situations apart in the lab.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Why "explain" is the safer ask, which is the lab's closing point and the one students least expect: an explanation is checked against code that is in front of you, right now, by reading; generated code is checked against a spec you may never have written down, by running it, later. The mechanism is the same in both, so the difference is entirely in how cheap the check is.</a:t>
            </a:r>
          </a:p>
          <a:p/>
          <a:p>
            <a:r>
              <a:t>The second point is the deeper one and connects to "what the job becomes": an explanation leaves you understanding the code, and understanding is one of the things that did not get cheap. Asking it to write leaves you a file you must now understand anyway.</a:t>
            </a:r>
          </a:p>
          <a:p/>
          <a:p>
            <a:r>
              <a:t>The same asymmetry shows up in learning. In Anthropic's January 2026 trial, developers learning a new library who asked the assistant to explain, or asked it conceptual questions, kept their understanding; those who had it write the code understood less. One study, so teach the direction.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The one activity: seven to eight minutes on their own laptops with whatever assistant they have. The concept it makes visible is two things from the two hours at once. Sampling — an identical ask in two fresh conversations gives two answers, because a ranked list was sampled, not a stored function retrieved. And silent decisions — an empty list and an even-length list are both decisions the ask left open, and neither answer will say it made them.</a:t>
            </a:r>
          </a:p>
          <a:p/>
          <a:p>
            <a:r>
              <a:t>If a pair of answers comes out identical, the second point still holds and is the one to debrief on. Students without an assistant to hand can pair up; the comparison is the exercise, not the typing. The debrief slide carries the wording that brings the decisions back into the prompt.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Debrief, and the payoff is part 1's lesson arriving from the other direction: the email validator showed that an unspecified decision gets made silently; the median function shows the same thing on the hook's own example, and the fix is identical — put the decision in the ask. Two different answers, if they appeared, are the ranked list being sampled, and neither is "the" answer the tool retrieved.</a:t>
            </a:r>
          </a:p>
          <a:p/>
          <a:p>
            <a:r>
              <a:t>The characteristic mistake in the debrief is to judge the two answers on style — variable names, a sort versus a selection trick — rather than on behaviour at the edges. The edges are where the silent decisions live, and where any difference between the two runs is most likely to show.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Back to the hook, now answerable in full, and better asked of the room than restated. "How did it know?" — the signature was in the context, and a body has followed a line like that many times in its training text, so a body is the top of the ranked list. "Why confidently wrong?" — likely is the whole criterion, "I don't know" ranks high only where training put it, and it could not see anything you did not put in front of it.</a:t>
            </a:r>
          </a:p>
          <a:p/>
          <a:p>
            <a:r>
              <a:t>The concept to make explicit: both halves of the question have the same answer, which is the claim the lecture opened with. If a student can give both halves in their own words, the model has landed.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Common mistakes on both sides of the conversation. When you ask, in the order students meet them. The first three are part 1's; the fourth is part 2's, and it is the one the frozen-weights slide exists to prevent — the context starts empty every time, so a convention told once is a convention told to nobody.</a:t>
            </a:r>
          </a:p>
          <a:p/>
          <a:p>
            <a:r>
              <a:t>The last is the important one: an assistant asked to solve a problem does not stop to ask whether the problem is worth solving, because "should I?" is never the plausible continuation of "do this".</a:t>
            </a:r>
          </a:p>
          <a:p/>
          <a:p>
            <a:r>
              <a:t>When you read the answer. Each one is a mechanism from part 2 misread as something else: fluency read as correctness; hedge words read as facts about your code; a hallucination read as a bug rather than the loop working normally; a different second answer read as a fault rather than sampling; and its own earlier code read as an independent opinion rather than as context it will continue.</a:t>
            </a:r>
          </a:p>
          <a:p/>
          <a:p>
            <a:r>
              <a:t>The last is the practical one. In the conversation that wrote the code, "is this right?" is answered by the plausible continuation of its own work. A fresh conversation, given the code as data, is a different input.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The honest limits of the lecture's own model, stated so nobody over-applies it. "Predict the next token" describes the model; the tools students use wrap it in things that put more into the context — searches, file reads, test runs, and generated "thinking" that is itself more text in the context before the answer. Every one of those raises the odds of a right answer, but they are not equal. Generated reasoning can catch its own mistakes, yet it is still predicted text checking predicted text. A test that runs is the one real check in the list, because its result comes from executing the code rather than from predicting it; the model can still misread that result, which is why the reading stays yours.</a:t>
            </a:r>
          </a:p>
          <a:p/>
          <a:p>
            <a:r>
              <a:t>The claim to leave in place is the modest one: the mechanism explains the behaviour well enough to predict it, and it says nothing about what the tools will be able to do in a year's time. What it says about YOUR job — decide, supply, judge — does not move.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Summary and close. The first four lines are part 1's model at the level of WHAT; the last two are part 2's HOW. The useful test of the two hours is whether a student can now explain the hook's completion in their own words — both halves, one mechanism — and say what they would change about a prompt, and when they would open a fresh conversation. Leave the callout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7BD74-770C-8E8F-E120-C0DE2E13EF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C8DAC0F4-2938-282E-489F-77402428C9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43A2B8DC-D59B-3CB1-7CA1-9365560903DA}"/>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5" name="Footer Placeholder 4">
            <a:extLst>
              <a:ext uri="{FF2B5EF4-FFF2-40B4-BE49-F238E27FC236}">
                <a16:creationId xmlns:a16="http://schemas.microsoft.com/office/drawing/2014/main" id="{C4C9F888-14BD-2F90-BD7E-9B96301E68B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829C89B-5792-D408-B5D7-F1FE9193642F}"/>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22513420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D2E88-8DF5-9050-4762-1E314092597C}"/>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C0F98EFA-6AA9-D2C5-6D83-ED1E8A328F6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B0591C13-F453-A3C2-1AA9-D00F55A9FC15}"/>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5" name="Footer Placeholder 4">
            <a:extLst>
              <a:ext uri="{FF2B5EF4-FFF2-40B4-BE49-F238E27FC236}">
                <a16:creationId xmlns:a16="http://schemas.microsoft.com/office/drawing/2014/main" id="{EBCFC658-79A7-5747-9C33-C2295EFD71BA}"/>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DD7BFBD6-2FBF-5F8A-CBFC-2CFD102E627C}"/>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32587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8BCA1-CB3C-FDDF-3E28-06A065D8A4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D0C9F3B9-0D4D-E076-0DBE-3642292C26B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99059F-F7C4-C55C-D4D0-F0D585638F04}"/>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5" name="Footer Placeholder 4">
            <a:extLst>
              <a:ext uri="{FF2B5EF4-FFF2-40B4-BE49-F238E27FC236}">
                <a16:creationId xmlns:a16="http://schemas.microsoft.com/office/drawing/2014/main" id="{7B186AEC-2A64-8411-77E9-0323B1094D0F}"/>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04192C13-0DF6-4A46-30C3-206E6469B1D4}"/>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474722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5AB97-4BB3-1976-0902-80A67B194433}"/>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9A884BF3-1653-41E6-3AE7-B43DD3246CF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33ECF0F9-07C7-DCEA-4A52-78BF208D4E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CA03F3CD-33A2-58EF-A2B6-3155CB6D3280}"/>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6" name="Footer Placeholder 5">
            <a:extLst>
              <a:ext uri="{FF2B5EF4-FFF2-40B4-BE49-F238E27FC236}">
                <a16:creationId xmlns:a16="http://schemas.microsoft.com/office/drawing/2014/main" id="{C9926457-C0F5-519F-7288-3F8FD225B8A0}"/>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13582587-58E4-EF2B-A838-5DD81E60F8E5}"/>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020798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DB3A6-D6B7-5203-01F9-01895E998B6A}"/>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142F37BF-7B7F-74EF-EE3C-D695E8485C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BDB3D4-1BB1-AF7E-40C5-64E778F92D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DD3BC921-9555-E241-1465-804CD7B0C4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C4580C0-6CF6-945C-1504-239F7AB008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1D50DBC6-A34D-EB10-028C-65FE2724E915}"/>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8" name="Footer Placeholder 7">
            <a:extLst>
              <a:ext uri="{FF2B5EF4-FFF2-40B4-BE49-F238E27FC236}">
                <a16:creationId xmlns:a16="http://schemas.microsoft.com/office/drawing/2014/main" id="{FD95949E-8297-7E4B-08A6-7F5D22199DDF}"/>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08A64FB8-37AF-F828-B8E5-B144B6556194}"/>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6214796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08704-DFDE-CE6F-A7DC-89FF3376A2F8}"/>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ECC5D5D3-32A2-D568-3BBB-361355CF8ABF}"/>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4" name="Footer Placeholder 3">
            <a:extLst>
              <a:ext uri="{FF2B5EF4-FFF2-40B4-BE49-F238E27FC236}">
                <a16:creationId xmlns:a16="http://schemas.microsoft.com/office/drawing/2014/main" id="{1B36C9D4-D9FA-B627-5883-F92881543357}"/>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7BB348EB-A39A-6E2D-2E70-97CBEE3165B4}"/>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32421648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58CF1C-7600-7AA7-28DA-A94FBDCD77D7}"/>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3" name="Footer Placeholder 2">
            <a:extLst>
              <a:ext uri="{FF2B5EF4-FFF2-40B4-BE49-F238E27FC236}">
                <a16:creationId xmlns:a16="http://schemas.microsoft.com/office/drawing/2014/main" id="{0EF5CE0B-3FAC-4C1F-1590-8702CD5C5018}"/>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565BD2B3-77D9-BED2-0A4F-1F22210170D8}"/>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2347684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4A86B-219A-38F9-6AC4-EBBAD9BF82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8D039B15-F543-73EC-F19E-853DC09151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498B2DEC-A277-86D0-2C7A-B6DDA33D8F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CD90A1-4C2E-09C1-EE3F-56FC94765E2E}"/>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6" name="Footer Placeholder 5">
            <a:extLst>
              <a:ext uri="{FF2B5EF4-FFF2-40B4-BE49-F238E27FC236}">
                <a16:creationId xmlns:a16="http://schemas.microsoft.com/office/drawing/2014/main" id="{DB39F80E-2234-2450-2348-F356744BC079}"/>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6D3B14E8-421E-7389-B35E-E446D122D8F9}"/>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34145990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72AEB-9ABC-699D-8ED1-24DB3B7DDD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3D8D49E0-4992-3F72-A0C2-BEC20CEE0E4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20DAA23C-76DC-DCB8-6D0D-CBCB6771FD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DE669A-F5FE-5956-03E8-88DAB4E2A37D}"/>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6" name="Footer Placeholder 5">
            <a:extLst>
              <a:ext uri="{FF2B5EF4-FFF2-40B4-BE49-F238E27FC236}">
                <a16:creationId xmlns:a16="http://schemas.microsoft.com/office/drawing/2014/main" id="{7A759012-7CE0-2E93-D1A5-7734A5FD3939}"/>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D9AE601F-C9CF-B0D3-A549-4C3DDAD54BAD}"/>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127075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F9877-091A-2D55-1883-9FD7515D87B9}"/>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C6BE438E-D914-88C4-220B-7086E7CD36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07576220-DDB0-FE7C-3FC8-DD8985BECFF9}"/>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5" name="Footer Placeholder 4">
            <a:extLst>
              <a:ext uri="{FF2B5EF4-FFF2-40B4-BE49-F238E27FC236}">
                <a16:creationId xmlns:a16="http://schemas.microsoft.com/office/drawing/2014/main" id="{7C09C4C0-8988-D40C-2EEE-9174B6BE225C}"/>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41EFCD6A-DA8E-B88C-FDE6-C5CE5236919B}"/>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41968264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C765AD-C417-976E-FAE2-D175648ACA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5F1CBEEC-E0B4-1E7E-5168-CA337DF4BC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297D147-C52B-1381-F244-C715759166BC}"/>
              </a:ext>
            </a:extLst>
          </p:cNvPr>
          <p:cNvSpPr>
            <a:spLocks noGrp="1"/>
          </p:cNvSpPr>
          <p:nvPr>
            <p:ph type="dt" sz="half" idx="10"/>
          </p:nvPr>
        </p:nvSpPr>
        <p:spPr/>
        <p:txBody>
          <a:bodyPr/>
          <a:lstStyle/>
          <a:p>
            <a:fld id="{44A5CEE2-6E65-48D0-90B9-EB2BBC28F974}" type="datetimeFigureOut">
              <a:rPr lang="en-IE" smtClean="0"/>
              <a:t>09/10/2025</a:t>
            </a:fld>
            <a:endParaRPr lang="en-IE"/>
          </a:p>
        </p:txBody>
      </p:sp>
      <p:sp>
        <p:nvSpPr>
          <p:cNvPr id="5" name="Footer Placeholder 4">
            <a:extLst>
              <a:ext uri="{FF2B5EF4-FFF2-40B4-BE49-F238E27FC236}">
                <a16:creationId xmlns:a16="http://schemas.microsoft.com/office/drawing/2014/main" id="{7D4108D3-012B-6D6A-0D5B-59B77E2219B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C4E96939-C830-124A-BFEE-6DCBE91F0802}"/>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2734079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3CD8D4-F5C3-0B73-F650-0212DED17F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F054274A-DC38-0EF2-2A2F-B9C1ED2F24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C54D09B4-CDB1-3BA3-3E9E-247C5C7981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4A5CEE2-6E65-48D0-90B9-EB2BBC28F974}" type="datetimeFigureOut">
              <a:rPr lang="en-IE" smtClean="0"/>
              <a:t>09/10/2025</a:t>
            </a:fld>
            <a:endParaRPr lang="en-IE"/>
          </a:p>
        </p:txBody>
      </p:sp>
      <p:sp>
        <p:nvSpPr>
          <p:cNvPr id="5" name="Footer Placeholder 4">
            <a:extLst>
              <a:ext uri="{FF2B5EF4-FFF2-40B4-BE49-F238E27FC236}">
                <a16:creationId xmlns:a16="http://schemas.microsoft.com/office/drawing/2014/main" id="{A7C95F35-2780-7753-AC5E-CE5B046134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E"/>
          </a:p>
        </p:txBody>
      </p:sp>
      <p:sp>
        <p:nvSpPr>
          <p:cNvPr id="6" name="Slide Number Placeholder 5">
            <a:extLst>
              <a:ext uri="{FF2B5EF4-FFF2-40B4-BE49-F238E27FC236}">
                <a16:creationId xmlns:a16="http://schemas.microsoft.com/office/drawing/2014/main" id="{3B851B3B-DF87-9B31-6232-5C1188F2AF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30627C6-651F-4714-B9C1-060194F0E4B7}" type="slidenum">
              <a:rPr lang="en-IE" smtClean="0"/>
              <a:t>‹#›</a:t>
            </a:fld>
            <a:endParaRPr lang="en-IE"/>
          </a:p>
        </p:txBody>
      </p:sp>
    </p:spTree>
    <p:extLst>
      <p:ext uri="{BB962C8B-B14F-4D97-AF65-F5344CB8AC3E}">
        <p14:creationId xmlns:p14="http://schemas.microsoft.com/office/powerpoint/2010/main" val="2671947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normAutofit/>
          </a:bodyPr>
          <a:lstStyle/>
          <a:p>
            <a:r>
              <a:t>What AI-Assisted Programming Actually Is</a:t>
            </a:r>
          </a:p>
        </p:txBody>
      </p:sp>
      <p:sp>
        <p:nvSpPr>
          <p:cNvPr id="3" name="Subtitle 2"/>
          <p:cNvSpPr>
            <a:spLocks noGrp="1"/>
          </p:cNvSpPr>
          <p:nvPr>
            <p:ph type="subTitle" idx="1"/>
          </p:nvPr>
        </p:nvSpPr>
        <p:spPr/>
        <p:txBody>
          <a:bodyPr/>
          <a:lstStyle/>
          <a:p>
            <a:r>
              <a:t>What is actually happening when it writes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A question you already know the answer to</a:t>
            </a:r>
          </a:p>
        </p:txBody>
      </p:sp>
      <p:sp>
        <p:nvSpPr>
          <p:cNvPr id="3" name="Content Placeholder 2"/>
          <p:cNvSpPr>
            <a:spLocks noGrp="1"/>
          </p:cNvSpPr>
          <p:nvPr>
            <p:ph idx="1"/>
          </p:nvPr>
        </p:nvSpPr>
        <p:spPr>
          <a:xfrm>
            <a:off x="838200" y="1825625"/>
            <a:ext cx="10515600" cy="475488"/>
          </a:xfrm>
        </p:spPr>
        <p:txBody>
          <a:bodyPr>
            <a:normAutofit/>
          </a:bodyPr>
          <a:lstStyle/>
          <a:p>
            <a:pPr marL="0" indent="0">
              <a:buNone/>
            </a:pPr>
            <a:r>
              <a:t>You type a function name. The assistant writes the body.</a:t>
            </a:r>
          </a:p>
        </p:txBody>
      </p:sp>
      <p:sp>
        <p:nvSpPr>
          <p:cNvPr id="4" name="Code 4" descr="Code, python, no-parse"/>
          <p:cNvSpPr/>
          <p:nvPr/>
        </p:nvSpPr>
        <p:spPr>
          <a:xfrm>
            <a:off x="929640" y="2483993"/>
            <a:ext cx="5394960" cy="548639"/>
          </a:xfrm>
          <a:prstGeom prst="roundRect">
            <a:avLst>
              <a:gd name="adj" fmla="val 13333"/>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noAutofit/>
          </a:bodyPr>
          <a:lstStyle/>
          <a:p>
            <a:pPr algn="l">
              <a:lnSpc>
                <a:spcPct val="100000"/>
              </a:lnSpc>
              <a:spcBef>
                <a:spcPts val="0"/>
              </a:spcBef>
            </a:pPr>
            <a:r>
              <a:rPr sz="2400">
                <a:solidFill>
                  <a:srgbClr val="569CD6"/>
                </a:solidFill>
                <a:latin typeface="Consolas"/>
              </a:rPr>
              <a:t>def</a:t>
            </a:r>
            <a:r>
              <a:rPr sz="2400">
                <a:solidFill>
                  <a:srgbClr val="D4D4D4"/>
                </a:solidFill>
                <a:latin typeface="Consolas"/>
              </a:rPr>
              <a:t> </a:t>
            </a:r>
            <a:r>
              <a:rPr sz="2400">
                <a:solidFill>
                  <a:srgbClr val="DCDCAA"/>
                </a:solidFill>
                <a:latin typeface="Consolas"/>
              </a:rPr>
              <a:t>calculate_median</a:t>
            </a:r>
            <a:r>
              <a:rPr sz="2400">
                <a:solidFill>
                  <a:srgbClr val="D4D4D4"/>
                </a:solidFill>
                <a:latin typeface="Consolas"/>
              </a:rPr>
              <a:t>(</a:t>
            </a:r>
            <a:r>
              <a:rPr sz="2400">
                <a:solidFill>
                  <a:srgbClr val="9CDCFE"/>
                </a:solidFill>
                <a:latin typeface="Consolas"/>
              </a:rPr>
              <a:t>numbers</a:t>
            </a:r>
            <a:r>
              <a:rPr sz="2400">
                <a:solidFill>
                  <a:srgbClr val="D4D4D4"/>
                </a:solidFill>
                <a:latin typeface="Consolas"/>
              </a:rPr>
              <a:t>):</a:t>
            </a:r>
          </a:p>
        </p:txBody>
      </p:sp>
      <p:sp>
        <p:nvSpPr>
          <p:cNvPr id="5" name="Text 5"/>
          <p:cNvSpPr txBox="1"/>
          <p:nvPr/>
        </p:nvSpPr>
        <p:spPr>
          <a:xfrm>
            <a:off x="838200" y="3215512"/>
            <a:ext cx="10515600" cy="2961451"/>
          </a:xfrm>
          <a:prstGeom prst="rect">
            <a:avLst/>
          </a:prstGeom>
          <a:noFill/>
        </p:spPr>
        <p:txBody>
          <a:bodyPr wrap="square">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r>
              <a:t>How did it know?</a:t>
            </a:r>
          </a:p>
          <a:p>
            <a:pPr/>
            <a:r>
              <a:t>And why is it sometimes </a:t>
            </a:r>
            <a:r>
              <a:rPr b="1"/>
              <a:t>confidently, fluently wrong</a:t>
            </a:r>
            <a: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one idea</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rPr b="1"/>
              <a:t>It is not looking anything up. It is </a:t>
            </a:r>
            <a:r>
              <a:rPr b="1" i="1"/>
              <a:t>predicting the next token</a:t>
            </a:r>
            <a:r>
              <a:rPr b="1"/>
              <a:t>, over and over, based on everything it has seen so far.</a:t>
            </a:r>
          </a:p>
          <a:p>
            <a:pPr/>
            <a:r>
              <a:t>Astonishing output and confident nonsense come from the </a:t>
            </a:r>
            <a:r>
              <a:rPr b="1"/>
              <a:t>same</a:t>
            </a:r>
            <a:r>
              <a:t> mechanism</a:t>
            </a:r>
          </a:p>
          <a:p>
            <a:pPr/>
            <a:r>
              <a:t>Nothing in it checks whether the answer is true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Agenda</a:t>
            </a:r>
          </a:p>
        </p:txBody>
      </p:sp>
      <p:sp>
        <p:nvSpPr>
          <p:cNvPr id="3" name="Content Placeholder 2"/>
          <p:cNvSpPr>
            <a:spLocks noGrp="1"/>
          </p:cNvSpPr>
          <p:nvPr>
            <p:ph idx="1"/>
          </p:nvPr>
        </p:nvSpPr>
        <p:spPr>
          <a:xfrm>
            <a:off x="838200" y="1825625"/>
            <a:ext cx="10515600" cy="4351338"/>
          </a:xfrm>
        </p:spPr>
        <p:txBody>
          <a:bodyPr>
            <a:normAutofit/>
          </a:bodyPr>
          <a:lstStyle/>
          <a:p>
            <a:pPr/>
            <a:r>
              <a:rPr b="1"/>
              <a:t>Part 1 — what it is</a:t>
            </a:r>
          </a:p>
          <a:p>
            <a:pPr lvl="1"/>
            <a:r>
              <a:t>Prediction, not retrieval, and what follows from it</a:t>
            </a:r>
          </a:p>
          <a:p>
            <a:pPr lvl="1"/>
            <a:r>
              <a:t>The shapes these tools come in, and what each may touch</a:t>
            </a:r>
          </a:p>
          <a:p>
            <a:pPr lvl="1"/>
            <a:r>
              <a:t>What they are genuinely good at; where they fail, predictably</a:t>
            </a:r>
          </a:p>
          <a:p>
            <a:pPr lvl="1"/>
            <a:r>
              <a:t>What the job becomes</a:t>
            </a:r>
          </a:p>
          <a:p>
            <a:pPr/>
            <a:r>
              <a:rPr b="1"/>
              <a:t>Part 2 — how it works</a:t>
            </a:r>
          </a:p>
          <a:p>
            <a:pPr lvl="1"/>
            <a:r>
              <a:t>Tokens, the context window, and why it does not remember</a:t>
            </a:r>
          </a:p>
          <a:p>
            <a:pPr lvl="1"/>
            <a:r>
              <a:t>Why it wrote the fictional function, and when it will admit it</a:t>
            </a:r>
          </a:p>
          <a:p>
            <a:pPr lvl="1"/>
            <a:r>
              <a:t>A second case: explaining code it cannot see</a:t>
            </a:r>
          </a:p>
          <a:p>
            <a:pPr lvl="1"/>
            <a:r>
              <a:t>An activity on your own laptop, then the mistakes to avoid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What follows from prediction</a:t>
            </a:r>
          </a:p>
        </p:txBody>
      </p:sp>
      <p:grpSp>
        <p:nvGrpSpPr>
          <p:cNvPr id="4" name="Flow diagram"/>
          <p:cNvGrpSpPr/>
          <p:nvPr/>
        </p:nvGrpSpPr>
        <p:grpSpPr>
          <a:xfrm>
            <a:off x="0" y="0"/>
            <a:ext cx="11262360" cy="2941193"/>
            <a:chOff x="0" y="0"/>
            <a:chExt cx="11262360" cy="2941193"/>
          </a:xfrm>
        </p:grpSpPr>
        <p:sp>
          <p:nvSpPr>
            <p:cNvPr id="5" name="Step 1"/>
            <p:cNvSpPr/>
            <p:nvPr/>
          </p:nvSpPr>
          <p:spPr>
            <a:xfrm>
              <a:off x="929640" y="1825625"/>
              <a:ext cx="316992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01</a:t>
              </a:r>
            </a:p>
            <a:p>
              <a:pPr algn="l"/>
              <a:r>
                <a:rPr sz="2000">
                  <a:solidFill>
                    <a:schemeClr val="tx1"/>
                  </a:solidFill>
                </a:rPr>
                <a:t>Reads everything in its context</a:t>
              </a:r>
            </a:p>
          </p:txBody>
        </p:sp>
        <p:sp>
          <p:nvSpPr>
            <p:cNvPr id="6" name="Step 2"/>
            <p:cNvSpPr/>
            <p:nvPr/>
          </p:nvSpPr>
          <p:spPr>
            <a:xfrm>
              <a:off x="4511040" y="1825625"/>
              <a:ext cx="316992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02</a:t>
              </a:r>
            </a:p>
            <a:p>
              <a:pPr algn="l"/>
              <a:r>
                <a:rPr sz="2000">
                  <a:solidFill>
                    <a:schemeClr val="tx1"/>
                  </a:solidFill>
                </a:rPr>
                <a:t>Predicts the most plausible next piece</a:t>
              </a:r>
            </a:p>
          </p:txBody>
        </p:sp>
        <p:sp>
          <p:nvSpPr>
            <p:cNvPr id="7" name="Step 3"/>
            <p:cNvSpPr/>
            <p:nvPr/>
          </p:nvSpPr>
          <p:spPr>
            <a:xfrm>
              <a:off x="8092440" y="1825625"/>
              <a:ext cx="316992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03</a:t>
              </a:r>
            </a:p>
            <a:p>
              <a:pPr algn="l"/>
              <a:r>
                <a:rPr sz="2000">
                  <a:solidFill>
                    <a:schemeClr val="tx1"/>
                  </a:solidFill>
                </a:rPr>
                <a:t>Appends it, and repeats</a:t>
              </a:r>
            </a:p>
          </p:txBody>
        </p:sp>
        <p:cxnSp>
          <p:nvCxnSpPr>
            <p:cNvPr id="8" name="Connector 7"/>
            <p:cNvCxnSpPr>
              <a:stCxn id="5" idx="3"/>
              <a:endCxn id="6" idx="1"/>
            </p:cNvCxnSpPr>
            <p:nvPr/>
          </p:nvCxnSpPr>
          <p:spPr>
            <a:xfrm flipV="1">
              <a:off x="409956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a:stCxn id="6" idx="3"/>
              <a:endCxn id="7" idx="1"/>
            </p:cNvCxnSpPr>
            <p:nvPr/>
          </p:nvCxnSpPr>
          <p:spPr>
            <a:xfrm flipV="1">
              <a:off x="768096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sp>
        <p:nvSpPr>
          <p:cNvPr id="3" name="Content Placeholder 2"/>
          <p:cNvSpPr>
            <a:spLocks noGrp="1"/>
          </p:cNvSpPr>
          <p:nvPr>
            <p:ph idx="1"/>
          </p:nvPr>
        </p:nvSpPr>
        <p:spPr>
          <a:xfrm>
            <a:off x="838200" y="3124073"/>
            <a:ext cx="10515600" cy="3052890"/>
          </a:xfrm>
        </p:spPr>
        <p:txBody>
          <a:bodyPr>
            <a:normAutofit/>
          </a:bodyPr>
          <a:lstStyle/>
          <a:p>
            <a:pPr/>
            <a:r>
              <a:rPr b="1"/>
              <a:t>Plausible is the target</a:t>
            </a:r>
            <a:r>
              <a:t> — not correct, not safe, not current</a:t>
            </a:r>
          </a:p>
          <a:p>
            <a:pPr/>
            <a:r>
              <a:t>It has no reliable sense of where its own knowledge ends</a:t>
            </a:r>
          </a:p>
          <a:p>
            <a:pPr/>
            <a:r>
              <a:t>Change the context and you change the output. That is your entire steering wheel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Predict: what does it do?</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t>You ask for a function using </a:t>
            </a:r>
            <a:r>
              <a:rPr>
                <a:latin typeface="Consolas"/>
              </a:rPr>
              <a:t>pandas.read_excel_fast()</a:t>
            </a:r>
            <a:r>
              <a:t>.</a:t>
            </a:r>
          </a:p>
          <a:p>
            <a:pPr marL="0" indent="0">
              <a:buNone/>
            </a:pPr>
            <a:r>
              <a:rPr b="1"/>
              <a:t>That function does not exist.</a:t>
            </a:r>
          </a:p>
          <a:p>
            <a:pPr/>
            <a:r>
              <a:t>It writes a function that calls it, confidently</a:t>
            </a:r>
          </a:p>
          <a:p>
            <a:pPr/>
            <a:r>
              <a:t>It tells you the function does not exist</a:t>
            </a:r>
          </a:p>
          <a:p>
            <a:pPr/>
            <a:r>
              <a:t>It refuses to answer</a:t>
            </a:r>
          </a:p>
          <a:p>
            <a:pPr/>
            <a:r>
              <a:t>It searches the internet to check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Two answers, one mechanism</a:t>
            </a:r>
          </a:p>
        </p:txBody>
      </p:sp>
      <p:sp>
        <p:nvSpPr>
          <p:cNvPr id="3" name="Content Placeholder 2"/>
          <p:cNvSpPr>
            <a:spLocks noGrp="1"/>
          </p:cNvSpPr>
          <p:nvPr>
            <p:ph idx="1"/>
          </p:nvPr>
        </p:nvSpPr>
        <p:spPr>
          <a:xfrm>
            <a:off x="838200" y="1825625"/>
            <a:ext cx="10515600" cy="694944"/>
          </a:xfrm>
        </p:spPr>
        <p:txBody>
          <a:bodyPr>
            <a:normAutofit fontScale="77500"/>
          </a:bodyPr>
          <a:lstStyle/>
          <a:p>
            <a:pPr/>
            <a:r>
              <a:t>Left to raw prediction, it writes the code: fluent, well-named, correctly styled, </a:t>
            </a:r>
            <a:r>
              <a:rPr b="1"/>
              <a:t>completely fictional</a:t>
            </a:r>
          </a:p>
        </p:txBody>
      </p:sp>
      <p:sp>
        <p:nvSpPr>
          <p:cNvPr id="4" name="Code 4" descr="Code, python"/>
          <p:cNvSpPr/>
          <p:nvPr/>
        </p:nvSpPr>
        <p:spPr>
          <a:xfrm>
            <a:off x="929640" y="2703449"/>
            <a:ext cx="7909560" cy="792480"/>
          </a:xfrm>
          <a:prstGeom prst="roundRect">
            <a:avLst>
              <a:gd name="adj" fmla="val 923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noAutofit/>
          </a:bodyPr>
          <a:lstStyle/>
          <a:p>
            <a:pPr algn="l">
              <a:lnSpc>
                <a:spcPct val="100000"/>
              </a:lnSpc>
              <a:spcBef>
                <a:spcPts val="0"/>
              </a:spcBef>
            </a:pPr>
            <a:r>
              <a:rPr sz="2000">
                <a:solidFill>
                  <a:srgbClr val="569CD6"/>
                </a:solidFill>
                <a:latin typeface="Consolas"/>
              </a:rPr>
              <a:t>def</a:t>
            </a:r>
            <a:r>
              <a:rPr sz="2000">
                <a:solidFill>
                  <a:srgbClr val="D4D4D4"/>
                </a:solidFill>
                <a:latin typeface="Consolas"/>
              </a:rPr>
              <a:t> </a:t>
            </a:r>
            <a:r>
              <a:rPr sz="2000">
                <a:solidFill>
                  <a:srgbClr val="DCDCAA"/>
                </a:solidFill>
                <a:latin typeface="Consolas"/>
              </a:rPr>
              <a:t>load_sheet</a:t>
            </a:r>
            <a:r>
              <a:rPr sz="2000">
                <a:solidFill>
                  <a:srgbClr val="D4D4D4"/>
                </a:solidFill>
                <a:latin typeface="Consolas"/>
              </a:rPr>
              <a:t>(</a:t>
            </a:r>
            <a:r>
              <a:rPr sz="2000">
                <a:solidFill>
                  <a:srgbClr val="9CDCFE"/>
                </a:solidFill>
                <a:latin typeface="Consolas"/>
              </a:rPr>
              <a:t>path</a:t>
            </a:r>
            <a:r>
              <a:rPr sz="2000">
                <a:solidFill>
                  <a:srgbClr val="D4D4D4"/>
                </a:solidFill>
                <a:latin typeface="Consolas"/>
              </a:rPr>
              <a:t>):</a:t>
            </a:r>
          </a:p>
          <a:p>
            <a:pPr algn="l">
              <a:lnSpc>
                <a:spcPct val="100000"/>
              </a:lnSpc>
              <a:spcBef>
                <a:spcPts val="0"/>
              </a:spcBef>
            </a:pPr>
            <a:r>
              <a:rPr sz="2000">
                <a:solidFill>
                  <a:srgbClr val="D4D4D4"/>
                </a:solidFill>
                <a:latin typeface="Consolas"/>
              </a:rPr>
              <a:t>    </a:t>
            </a:r>
            <a:r>
              <a:rPr sz="2000">
                <a:solidFill>
                  <a:srgbClr val="C586C0"/>
                </a:solidFill>
                <a:latin typeface="Consolas"/>
              </a:rPr>
              <a:t>return</a:t>
            </a:r>
            <a:r>
              <a:rPr sz="2000">
                <a:solidFill>
                  <a:srgbClr val="D4D4D4"/>
                </a:solidFill>
                <a:latin typeface="Consolas"/>
              </a:rPr>
              <a:t> </a:t>
            </a:r>
            <a:r>
              <a:rPr sz="2000">
                <a:solidFill>
                  <a:srgbClr val="9CDCFE"/>
                </a:solidFill>
                <a:latin typeface="Consolas"/>
              </a:rPr>
              <a:t>pd</a:t>
            </a:r>
            <a:r>
              <a:rPr sz="2000">
                <a:solidFill>
                  <a:srgbClr val="D4D4D4"/>
                </a:solidFill>
                <a:latin typeface="Consolas"/>
              </a:rPr>
              <a:t>.</a:t>
            </a:r>
            <a:r>
              <a:rPr sz="2000">
                <a:solidFill>
                  <a:srgbClr val="9CDCFE"/>
                </a:solidFill>
                <a:latin typeface="Consolas"/>
              </a:rPr>
              <a:t>read_excel_fast</a:t>
            </a:r>
            <a:r>
              <a:rPr sz="2000">
                <a:solidFill>
                  <a:srgbClr val="D4D4D4"/>
                </a:solidFill>
                <a:latin typeface="Consolas"/>
              </a:rPr>
              <a:t>(</a:t>
            </a:r>
            <a:r>
              <a:rPr sz="2000">
                <a:solidFill>
                  <a:srgbClr val="9CDCFE"/>
                </a:solidFill>
                <a:latin typeface="Consolas"/>
              </a:rPr>
              <a:t>path</a:t>
            </a:r>
            <a:r>
              <a:rPr sz="2000">
                <a:solidFill>
                  <a:srgbClr val="D4D4D4"/>
                </a:solidFill>
                <a:latin typeface="Consolas"/>
              </a:rPr>
              <a:t>, </a:t>
            </a:r>
            <a:r>
              <a:rPr sz="2000">
                <a:solidFill>
                  <a:srgbClr val="9CDCFE"/>
                </a:solidFill>
                <a:latin typeface="Consolas"/>
              </a:rPr>
              <a:t>engine</a:t>
            </a:r>
            <a:r>
              <a:rPr sz="2000">
                <a:solidFill>
                  <a:srgbClr val="D4D4D4"/>
                </a:solidFill>
                <a:latin typeface="Consolas"/>
              </a:rPr>
              <a:t>=</a:t>
            </a:r>
            <a:r>
              <a:rPr sz="2000">
                <a:solidFill>
                  <a:srgbClr val="CE9178"/>
                </a:solidFill>
                <a:latin typeface="Consolas"/>
              </a:rPr>
              <a:t>"openpyxl"</a:t>
            </a:r>
            <a:r>
              <a:rPr sz="2000">
                <a:solidFill>
                  <a:srgbClr val="D4D4D4"/>
                </a:solidFill>
                <a:latin typeface="Consolas"/>
              </a:rPr>
              <a:t>)</a:t>
            </a:r>
          </a:p>
        </p:txBody>
      </p:sp>
      <p:sp>
        <p:nvSpPr>
          <p:cNvPr id="5" name="Text 5"/>
          <p:cNvSpPr txBox="1"/>
          <p:nvPr/>
        </p:nvSpPr>
        <p:spPr>
          <a:xfrm>
            <a:off x="838200" y="3678809"/>
            <a:ext cx="10515600" cy="2498154"/>
          </a:xfrm>
          <a:prstGeom prst="rect">
            <a:avLst/>
          </a:prstGeom>
          <a:noFill/>
        </p:spPr>
        <p:txBody>
          <a:bodyPr wrap="square">
            <a:normAutofit fontScale="77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r>
              <a:t>Today's assistants usually reply "pandas has no </a:t>
            </a:r>
            <a:r>
              <a:rPr>
                <a:latin typeface="Consolas"/>
              </a:rPr>
              <a:t>read_excel_fast</a:t>
            </a:r>
            <a:r>
              <a:t>; did you mean </a:t>
            </a:r>
            <a:r>
              <a:rPr>
                <a:latin typeface="Consolas"/>
              </a:rPr>
              <a:t>read_excel</a:t>
            </a:r>
            <a:r>
              <a:t>?" because training made that the more plausible answer, not because anything checked</a:t>
            </a:r>
          </a:p>
          <a:p>
            <a:pPr/>
            <a:r>
              <a:t>Ask about a niche library, or an API renamed after the training cutoff, and the fiction comes back</a:t>
            </a:r>
          </a:p>
          <a:p>
            <a:pPr/>
            <a:r>
              <a:rPr b="1"/>
              <a:t>This is a hallucination</a:t>
            </a:r>
            <a:r>
              <a:t>: not a bug being fixed, but the mechanism working exactly as designed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What a hallucination looks like</a:t>
            </a:r>
          </a:p>
        </p:txBody>
      </p:sp>
      <p:sp>
        <p:nvSpPr>
          <p:cNvPr id="3" name="Content Placeholder 2"/>
          <p:cNvSpPr>
            <a:spLocks noGrp="1"/>
          </p:cNvSpPr>
          <p:nvPr>
            <p:ph idx="1"/>
          </p:nvPr>
        </p:nvSpPr>
        <p:spPr>
          <a:xfrm>
            <a:off x="838200" y="1825625"/>
            <a:ext cx="10515600" cy="4351338"/>
          </a:xfrm>
        </p:spPr>
        <p:txBody>
          <a:bodyPr>
            <a:normAutofit/>
          </a:bodyPr>
          <a:lstStyle/>
          <a:p>
            <a:pPr/>
            <a:r>
              <a:t>Fluent, specific, well-formed — and not hedged at all</a:t>
            </a:r>
          </a:p>
          <a:p>
            <a:pPr/>
            <a:r>
              <a:t>Names that follow the library's own pattern: </a:t>
            </a:r>
            <a:r>
              <a:rPr>
                <a:latin typeface="Consolas"/>
              </a:rPr>
              <a:t>read_excel_fast</a:t>
            </a:r>
            <a:r>
              <a:t> sits beside </a:t>
            </a:r>
            <a:r>
              <a:rPr>
                <a:latin typeface="Consolas"/>
              </a:rPr>
              <a:t>read_excel</a:t>
            </a:r>
            <a:r>
              <a:t> as if it belonged</a:t>
            </a:r>
          </a:p>
          <a:p>
            <a:pPr/>
            <a:r>
              <a:t>Often a </a:t>
            </a:r>
            <a:r>
              <a:rPr b="1"/>
              <a:t>real</a:t>
            </a:r>
            <a:r>
              <a:t> argument on a </a:t>
            </a:r>
            <a:r>
              <a:rPr b="1"/>
              <a:t>fictional</a:t>
            </a:r>
            <a:r>
              <a:t> function: </a:t>
            </a:r>
            <a:r>
              <a:rPr>
                <a:latin typeface="Consolas"/>
              </a:rPr>
              <a:t>engine="openpyxl"</a:t>
            </a:r>
            <a:r>
              <a:t> is genuine; the function it is passed to is not</a:t>
            </a:r>
          </a:p>
          <a:p>
            <a:pPr/>
            <a:r>
              <a:t>A confident hallucination has </a:t>
            </a:r>
            <a:r>
              <a:rPr b="1"/>
              <a:t>no tell in the text</a:t>
            </a:r>
            <a:r>
              <a:t>. The check is outside it: the documentation, or running it</a:t>
            </a:r>
          </a:p>
          <a:p>
            <a:pPr marL="0" indent="0">
              <a:buNone/>
            </a:pPr>
            <a:r>
              <a:rPr b="1"/>
              <a:t>Fluency is evidence of plausibility. It is not evidence of anything else.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four shapes, and what you review</a:t>
            </a:r>
          </a:p>
        </p:txBody>
      </p:sp>
      <p:grpSp>
        <p:nvGrpSpPr>
          <p:cNvPr id="4" name="Stack diagram"/>
          <p:cNvGrpSpPr/>
          <p:nvPr/>
        </p:nvGrpSpPr>
        <p:grpSpPr>
          <a:xfrm>
            <a:off x="929640" y="1825625"/>
            <a:ext cx="10332720" cy="2072640"/>
            <a:chOff x="929640" y="1825625"/>
            <a:chExt cx="10332720" cy="2072640"/>
          </a:xfrm>
        </p:grpSpPr>
        <p:sp>
          <p:nvSpPr>
            <p:cNvPr id="5" name="Layer 1"/>
            <p:cNvSpPr/>
            <p:nvPr/>
          </p:nvSpPr>
          <p:spPr>
            <a:xfrm>
              <a:off x="929640" y="1825625"/>
              <a:ext cx="10332720" cy="463296"/>
            </a:xfrm>
            <a:prstGeom prst="roundRect">
              <a:avLst>
                <a:gd name="adj" fmla="val 15789"/>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b="1" sz="1600">
                  <a:solidFill>
                    <a:schemeClr val="tx1"/>
                  </a:solidFill>
                </a:rPr>
                <a:t>Completion</a:t>
              </a:r>
              <a:r>
                <a:rPr sz="1600">
                  <a:solidFill>
                    <a:schemeClr val="tx1"/>
                  </a:solidFill>
                </a:rPr>
                <a:t> — inline, finishing the line you are typing</a:t>
              </a:r>
              <a:r>
                <a:rPr sz="1300">
                  <a:solidFill>
                    <a:schemeClr val="accent1"/>
                  </a:solidFill>
                </a:rPr>
                <a:t>	you review: a suggestion</a:t>
              </a:r>
            </a:p>
          </p:txBody>
        </p:sp>
        <p:sp>
          <p:nvSpPr>
            <p:cNvPr id="6" name="Layer 2"/>
            <p:cNvSpPr/>
            <p:nvPr/>
          </p:nvSpPr>
          <p:spPr>
            <a:xfrm>
              <a:off x="929640" y="2362073"/>
              <a:ext cx="10332720" cy="463296"/>
            </a:xfrm>
            <a:prstGeom prst="roundRect">
              <a:avLst>
                <a:gd name="adj" fmla="val 15789"/>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b="1" sz="1600">
                  <a:solidFill>
                    <a:schemeClr val="tx1"/>
                  </a:solidFill>
                </a:rPr>
                <a:t>Chat</a:t>
              </a:r>
              <a:r>
                <a:rPr sz="1600">
                  <a:solidFill>
                    <a:schemeClr val="tx1"/>
                  </a:solidFill>
                </a:rPr>
                <a:t> — a side panel; changes nothing unless you paste it</a:t>
              </a:r>
              <a:r>
                <a:rPr sz="1300">
                  <a:solidFill>
                    <a:schemeClr val="accent1"/>
                  </a:solidFill>
                </a:rPr>
                <a:t>	you review: advice</a:t>
              </a:r>
            </a:p>
          </p:txBody>
        </p:sp>
        <p:sp>
          <p:nvSpPr>
            <p:cNvPr id="7" name="Layer 3"/>
            <p:cNvSpPr/>
            <p:nvPr/>
          </p:nvSpPr>
          <p:spPr>
            <a:xfrm>
              <a:off x="929640" y="2898521"/>
              <a:ext cx="10332720" cy="463296"/>
            </a:xfrm>
            <a:prstGeom prst="roundRect">
              <a:avLst>
                <a:gd name="adj" fmla="val 15789"/>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b="1" sz="1600">
                  <a:solidFill>
                    <a:schemeClr val="tx1"/>
                  </a:solidFill>
                </a:rPr>
                <a:t>Edit</a:t>
              </a:r>
              <a:r>
                <a:rPr sz="1600">
                  <a:solidFill>
                    <a:schemeClr val="tx1"/>
                  </a:solidFill>
                </a:rPr>
                <a:t> — rewrites your selection in the file</a:t>
              </a:r>
              <a:r>
                <a:rPr sz="1300">
                  <a:solidFill>
                    <a:schemeClr val="accent1"/>
                  </a:solidFill>
                </a:rPr>
                <a:t>	you review: a diff</a:t>
              </a:r>
            </a:p>
          </p:txBody>
        </p:sp>
        <p:sp>
          <p:nvSpPr>
            <p:cNvPr id="8" name="Layer 4"/>
            <p:cNvSpPr/>
            <p:nvPr/>
          </p:nvSpPr>
          <p:spPr>
            <a:xfrm>
              <a:off x="929640" y="3434969"/>
              <a:ext cx="10332720" cy="463296"/>
            </a:xfrm>
            <a:prstGeom prst="roundRect">
              <a:avLst>
                <a:gd name="adj" fmla="val 15789"/>
              </a:avLst>
            </a:prstGeom>
            <a:solidFill>
              <a:schemeClr val="accent2">
                <a:lumMod val="15000"/>
                <a:lumOff val="85000"/>
              </a:schemeClr>
            </a:solidFill>
            <a:ln w="19050">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b="1" sz="1600">
                  <a:solidFill>
                    <a:schemeClr val="tx1"/>
                  </a:solidFill>
                </a:rPr>
                <a:t>Agent</a:t>
              </a:r>
              <a:r>
                <a:rPr sz="1600">
                  <a:solidFill>
                    <a:schemeClr val="tx1"/>
                  </a:solidFill>
                </a:rPr>
                <a:t> — edits files and runs commands to reach a goal</a:t>
              </a:r>
              <a:r>
                <a:rPr sz="1300">
                  <a:solidFill>
                    <a:schemeClr val="accent2"/>
                  </a:solidFill>
                </a:rPr>
                <a:t>	you review: what it asks, then the outcome</a:t>
              </a:r>
            </a:p>
          </p:txBody>
        </p:sp>
      </p:grpSp>
      <p:sp>
        <p:nvSpPr>
          <p:cNvPr id="3" name="Content Placeholder 2"/>
          <p:cNvSpPr>
            <a:spLocks noGrp="1"/>
          </p:cNvSpPr>
          <p:nvPr>
            <p:ph idx="1"/>
          </p:nvPr>
        </p:nvSpPr>
        <p:spPr>
          <a:xfrm>
            <a:off x="838200" y="4081145"/>
            <a:ext cx="10515600" cy="2095818"/>
          </a:xfrm>
        </p:spPr>
        <p:txBody>
          <a:bodyPr>
            <a:normAutofit fontScale="92500"/>
          </a:bodyPr>
          <a:lstStyle/>
          <a:p>
            <a:pPr/>
            <a:r>
              <a:t>The further down, the more has changed </a:t>
            </a:r>
            <a:r>
              <a:rPr b="1"/>
              <a:t>before you see anything</a:t>
            </a:r>
          </a:p>
          <a:p>
            <a:pPr/>
            <a:r>
              <a:t>An agent that asks first lets you review each step; let it run without asking, and only the outcome is left to review</a:t>
            </a:r>
          </a:p>
          <a:p>
            <a:pPr marL="0" indent="0">
              <a:buNone/>
            </a:pPr>
            <a:r>
              <a:rPr i="1"/>
              <a:t>the products change yearly; the shapes have been stable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What they are genuinely good at</a:t>
            </a:r>
          </a:p>
        </p:txBody>
      </p:sp>
      <p:sp>
        <p:nvSpPr>
          <p:cNvPr id="3" name="Content Placeholder 2"/>
          <p:cNvSpPr>
            <a:spLocks noGrp="1"/>
          </p:cNvSpPr>
          <p:nvPr>
            <p:ph idx="1"/>
          </p:nvPr>
        </p:nvSpPr>
        <p:spPr>
          <a:xfrm>
            <a:off x="838200" y="1825625"/>
            <a:ext cx="10515600" cy="4351338"/>
          </a:xfrm>
        </p:spPr>
        <p:txBody>
          <a:bodyPr>
            <a:normAutofit/>
          </a:bodyPr>
          <a:lstStyle/>
          <a:p>
            <a:pPr/>
            <a:r>
              <a:t>Boilerplate you have written a hundred times</a:t>
            </a:r>
          </a:p>
          <a:p>
            <a:pPr/>
            <a:r>
              <a:t>Translating between languages or formats</a:t>
            </a:r>
          </a:p>
          <a:p>
            <a:pPr/>
            <a:r>
              <a:t>Explaining unfamiliar code, at speed</a:t>
            </a:r>
          </a:p>
          <a:p>
            <a:pPr/>
            <a:r>
              <a:t>First-draft tests, docstrings, regexes</a:t>
            </a:r>
          </a:p>
          <a:p>
            <a:pPr/>
            <a:r>
              <a:t>Naming things, and the mechanical half of refactoring</a:t>
            </a:r>
          </a:p>
          <a:p>
            <a:pPr marL="0" indent="0">
              <a:buNone/>
            </a:pPr>
            <a:r>
              <a:rPr b="1"/>
              <a:t>The pattern: tasks where the right answer is </a:t>
            </a:r>
            <a:r>
              <a:rPr b="1" i="1"/>
              <a:t>conventional</a:t>
            </a:r>
            <a:r>
              <a:rPr b="1"/>
              <a:t>. A predictor of plausible text is excellent at what is, by definition, typical.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Where they fail, predictably</a:t>
            </a:r>
          </a:p>
        </p:txBody>
      </p:sp>
      <p:sp>
        <p:nvSpPr>
          <p:cNvPr id="3" name="Content Placeholder 2"/>
          <p:cNvSpPr>
            <a:spLocks noGrp="1"/>
          </p:cNvSpPr>
          <p:nvPr>
            <p:ph idx="1"/>
          </p:nvPr>
        </p:nvSpPr>
        <p:spPr>
          <a:xfrm>
            <a:off x="838200" y="1825625"/>
            <a:ext cx="10515600" cy="4351338"/>
          </a:xfrm>
        </p:spPr>
        <p:txBody>
          <a:bodyPr>
            <a:normAutofit/>
          </a:bodyPr>
          <a:lstStyle/>
          <a:p>
            <a:pPr/>
            <a:r>
              <a:t>Anything </a:t>
            </a:r>
            <a:r>
              <a:rPr b="1"/>
              <a:t>novel</a:t>
            </a:r>
            <a:r>
              <a:t> — if it is not typical, it is not plausible</a:t>
            </a:r>
          </a:p>
          <a:p>
            <a:pPr/>
            <a:r>
              <a:t>Anything </a:t>
            </a:r>
            <a:r>
              <a:rPr b="1"/>
              <a:t>recent</a:t>
            </a:r>
            <a:r>
              <a:t> — training has a cutoff, and libraries move</a:t>
            </a:r>
          </a:p>
          <a:p>
            <a:pPr/>
            <a:r>
              <a:rPr b="1"/>
              <a:t>Your</a:t>
            </a:r>
            <a:r>
              <a:t> conventions, unless you show them</a:t>
            </a:r>
          </a:p>
          <a:p>
            <a:pPr/>
            <a:r>
              <a:t>Arithmetic and exact counting, unless it runs code for them</a:t>
            </a:r>
          </a:p>
          <a:p>
            <a:pPr marL="0" indent="0">
              <a:buNone/>
            </a:pPr>
            <a:r>
              <a:rPr i="1"/>
              <a:t>every one of these follows from "plausible, not correct"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Predict: which gets the better answer?</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rPr b="1"/>
              <a:t>Vague prompt:</a:t>
            </a:r>
            <a:r>
              <a:t> “Write a function to validate an email address”</a:t>
            </a:r>
          </a:p>
          <a:p>
            <a:pPr marL="0" indent="0">
              <a:buNone/>
            </a:pPr>
            <a:r>
              <a:rPr b="1"/>
              <a:t>Better prompt:</a:t>
            </a:r>
            <a:r>
              <a:t> “Write a function to validate an email address.</a:t>
            </a:r>
            <a:br/>
            <a:r>
              <a:t>We accept anything with an @ and a dot after it — we deliberately do NOT want RFC 5322 compliance. Reject anything over 254 characters.”</a:t>
            </a:r>
          </a:p>
          <a:p>
            <a:pPr/>
            <a:r>
              <a:t>Same tool. Same model. </a:t>
            </a:r>
            <a:r>
              <a:rPr b="1"/>
              <a:t>Same day.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second one, every time</a:t>
            </a:r>
          </a:p>
        </p:txBody>
      </p:sp>
      <p:sp>
        <p:nvSpPr>
          <p:cNvPr id="3" name="Content Placeholder 2"/>
          <p:cNvSpPr>
            <a:spLocks noGrp="1"/>
          </p:cNvSpPr>
          <p:nvPr>
            <p:ph idx="1"/>
          </p:nvPr>
        </p:nvSpPr>
        <p:spPr>
          <a:xfrm>
            <a:off x="838200" y="1825625"/>
            <a:ext cx="10515600" cy="4351338"/>
          </a:xfrm>
        </p:spPr>
        <p:txBody>
          <a:bodyPr>
            <a:normAutofit/>
          </a:bodyPr>
          <a:lstStyle/>
          <a:p>
            <a:pPr/>
            <a:r>
              <a:t>Not because it is longer — because it </a:t>
            </a:r>
            <a:r>
              <a:rPr b="1"/>
              <a:t>decides</a:t>
            </a:r>
            <a:r>
              <a:t> something</a:t>
            </a:r>
          </a:p>
          <a:p>
            <a:pPr/>
            <a:r>
              <a:t>Left unspecified, the tool picks for you, silently</a:t>
            </a:r>
          </a:p>
          <a:p>
            <a:pPr marL="0" indent="0">
              <a:buNone/>
            </a:pPr>
            <a:r>
              <a:rPr b="1"/>
              <a:t>Validation strictness is a </a:t>
            </a:r>
            <a:r>
              <a:rPr b="1" i="1"/>
              <a:t>product decision</a:t>
            </a:r>
            <a:r>
              <a:rPr b="1"/>
              <a:t>. Hand it to a text predictor and you get whatever was most common in its training data.</a:t>
            </a:r>
          </a:p>
          <a:p>
            <a:pPr/>
            <a:r>
              <a:t>The gap between those two answers is </a:t>
            </a:r>
            <a:r>
              <a:rPr b="1"/>
              <a:t>skill</a:t>
            </a:r>
            <a:r>
              <a:t>, and skill is learnable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So what is the job now?</a:t>
            </a:r>
          </a:p>
        </p:txBody>
      </p:sp>
      <p:grpSp>
        <p:nvGrpSpPr>
          <p:cNvPr id="4" name="Stack diagram"/>
          <p:cNvGrpSpPr/>
          <p:nvPr/>
        </p:nvGrpSpPr>
        <p:grpSpPr>
          <a:xfrm>
            <a:off x="929640" y="1825625"/>
            <a:ext cx="10332720" cy="2316480"/>
            <a:chOff x="929640" y="1825625"/>
            <a:chExt cx="10332720" cy="2316480"/>
          </a:xfrm>
        </p:grpSpPr>
        <p:sp>
          <p:nvSpPr>
            <p:cNvPr id="5" name="Layer 1"/>
            <p:cNvSpPr/>
            <p:nvPr/>
          </p:nvSpPr>
          <p:spPr>
            <a:xfrm>
              <a:off x="929640" y="1825625"/>
              <a:ext cx="10332720" cy="524256"/>
            </a:xfrm>
            <a:prstGeom prst="roundRect">
              <a:avLst>
                <a:gd name="adj" fmla="val 13953"/>
              </a:avLst>
            </a:prstGeom>
            <a:solidFill>
              <a:schemeClr val="accent1">
                <a:lumMod val="20000"/>
                <a:lumOff val="80000"/>
              </a:schemeClr>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Deciding what should exist, and what "correct" means</a:t>
              </a:r>
              <a:r>
                <a:rPr sz="1600">
                  <a:solidFill>
                    <a:schemeClr val="accent1"/>
                  </a:solidFill>
                </a:rPr>
                <a:t>	yours</a:t>
              </a:r>
            </a:p>
          </p:txBody>
        </p:sp>
        <p:sp>
          <p:nvSpPr>
            <p:cNvPr id="6" name="Layer 2"/>
            <p:cNvSpPr/>
            <p:nvPr/>
          </p:nvSpPr>
          <p:spPr>
            <a:xfrm>
              <a:off x="929640" y="2423033"/>
              <a:ext cx="103327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Supplying the context that makes a good answer possible</a:t>
              </a:r>
              <a:r>
                <a:rPr sz="1600">
                  <a:solidFill>
                    <a:schemeClr val="accent1"/>
                  </a:solidFill>
                </a:rPr>
                <a:t>	yours</a:t>
              </a:r>
            </a:p>
          </p:txBody>
        </p:sp>
        <p:sp>
          <p:nvSpPr>
            <p:cNvPr id="7" name="Layer 3"/>
            <p:cNvSpPr/>
            <p:nvPr/>
          </p:nvSpPr>
          <p:spPr>
            <a:xfrm>
              <a:off x="929640" y="3020441"/>
              <a:ext cx="103327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Judging what came back</a:t>
              </a:r>
              <a:r>
                <a:rPr sz="1600">
                  <a:solidFill>
                    <a:schemeClr val="accent1"/>
                  </a:solidFill>
                </a:rPr>
                <a:t>	yours</a:t>
              </a:r>
            </a:p>
          </p:txBody>
        </p:sp>
        <p:sp>
          <p:nvSpPr>
            <p:cNvPr id="8" name="Layer 4"/>
            <p:cNvSpPr/>
            <p:nvPr/>
          </p:nvSpPr>
          <p:spPr>
            <a:xfrm>
              <a:off x="929640" y="3617849"/>
              <a:ext cx="10332720" cy="524256"/>
            </a:xfrm>
            <a:prstGeom prst="roundRect">
              <a:avLst>
                <a:gd name="adj" fmla="val 13953"/>
              </a:avLst>
            </a:prstGeom>
            <a:solidFill>
              <a:schemeClr val="accent2">
                <a:lumMod val="15000"/>
                <a:lumOff val="85000"/>
              </a:schemeClr>
            </a:solidFill>
            <a:ln w="19050">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Typing the characters</a:t>
              </a:r>
              <a:r>
                <a:rPr sz="1600">
                  <a:solidFill>
                    <a:schemeClr val="accent2"/>
                  </a:solidFill>
                </a:rPr>
                <a:t>	cheap now</a:t>
              </a:r>
            </a:p>
          </p:txBody>
        </p:sp>
      </p:grpSp>
      <p:sp>
        <p:nvSpPr>
          <p:cNvPr id="3" name="Content Placeholder 2"/>
          <p:cNvSpPr>
            <a:spLocks noGrp="1"/>
          </p:cNvSpPr>
          <p:nvPr>
            <p:ph idx="1"/>
          </p:nvPr>
        </p:nvSpPr>
        <p:spPr>
          <a:xfrm>
            <a:off x="838200" y="4324985"/>
            <a:ext cx="10515600" cy="1851978"/>
          </a:xfrm>
        </p:spPr>
        <p:txBody>
          <a:bodyPr>
            <a:normAutofit/>
          </a:bodyPr>
          <a:lstStyle/>
          <a:p>
            <a:pPr/>
            <a:r>
              <a:t>The bottom row got cheap. </a:t>
            </a:r>
            <a:r>
              <a:rPr b="1"/>
              <a:t>The other three did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Predict: how much faster does this make you?</a:t>
            </a:r>
          </a:p>
        </p:txBody>
      </p:sp>
      <p:sp>
        <p:nvSpPr>
          <p:cNvPr id="3" name="Content Placeholder 2"/>
          <p:cNvSpPr>
            <a:spLocks noGrp="1"/>
          </p:cNvSpPr>
          <p:nvPr>
            <p:ph idx="1"/>
          </p:nvPr>
        </p:nvSpPr>
        <p:spPr>
          <a:xfrm>
            <a:off x="838200" y="1825625"/>
            <a:ext cx="10515600" cy="4351338"/>
          </a:xfrm>
        </p:spPr>
        <p:txBody>
          <a:bodyPr>
            <a:normAutofit/>
          </a:bodyPr>
          <a:lstStyle/>
          <a:p>
            <a:pPr/>
            <a:r>
              <a:t>10× faster</a:t>
            </a:r>
          </a:p>
          <a:p>
            <a:pPr/>
            <a:r>
              <a:t>Roughly 2× faster</a:t>
            </a:r>
          </a:p>
          <a:p>
            <a:pPr/>
            <a:r>
              <a:t>It depends enormously on the task</a:t>
            </a:r>
          </a:p>
          <a:p>
            <a:pPr/>
            <a:r>
              <a:t>Sometimes </a:t>
            </a:r>
            <a:r>
              <a:rPr b="1"/>
              <a:t>slower</a:t>
            </a:r>
            <a:r>
              <a:t> — while feeling faster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Honestly: it depends</a:t>
            </a:r>
          </a:p>
        </p:txBody>
      </p:sp>
      <p:sp>
        <p:nvSpPr>
          <p:cNvPr id="3" name="Content Placeholder 2"/>
          <p:cNvSpPr>
            <a:spLocks noGrp="1"/>
          </p:cNvSpPr>
          <p:nvPr>
            <p:ph idx="1"/>
          </p:nvPr>
        </p:nvSpPr>
        <p:spPr>
          <a:xfrm>
            <a:off x="838200" y="1825625"/>
            <a:ext cx="10515600" cy="4351338"/>
          </a:xfrm>
        </p:spPr>
        <p:txBody>
          <a:bodyPr>
            <a:normAutofit/>
          </a:bodyPr>
          <a:lstStyle/>
          <a:p>
            <a:pPr/>
            <a:r>
              <a:t>Large gains on </a:t>
            </a:r>
            <a:r>
              <a:rPr b="1"/>
              <a:t>boilerplate</a:t>
            </a:r>
            <a:r>
              <a:t> you already understand</a:t>
            </a:r>
          </a:p>
          <a:p>
            <a:pPr/>
            <a:r>
              <a:t>Small or negative on </a:t>
            </a:r>
            <a:r>
              <a:rPr b="1"/>
              <a:t>code you know well</a:t>
            </a:r>
          </a:p>
          <a:p>
            <a:pPr/>
            <a:r>
              <a:t>Learning something new? Let it write, and you finish barely faster but understand less, most of all when </a:t>
            </a:r>
            <a:r>
              <a:rPr b="1"/>
              <a:t>debugging</a:t>
            </a:r>
          </a:p>
          <a:p>
            <a:pPr/>
            <a:r>
              <a:t>Ask it to </a:t>
            </a:r>
            <a:r>
              <a:rPr b="1"/>
              <a:t>explain</a:t>
            </a:r>
            <a:r>
              <a:t> instead, and most of the learning survives</a:t>
            </a:r>
          </a:p>
          <a:p>
            <a:pPr marL="0" indent="0">
              <a:buNone/>
            </a:pPr>
            <a:r>
              <a:rPr b="1"/>
              <a:t>The uncomfortable finding: developers often report feeling faster on tasks where measurement says they were not. </a:t>
            </a:r>
            <a:r>
              <a:rPr b="1" i="1"/>
              <a:t>Perceived</a:t>
            </a:r>
            <a:r>
              <a:rPr b="1"/>
              <a:t> speed and </a:t>
            </a:r>
            <a:r>
              <a:rPr b="1" i="1"/>
              <a:t>actual</a:t>
            </a:r>
            <a:r>
              <a:rPr b="1"/>
              <a:t> speed come apart.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Ask for "I don't know" properly</a:t>
            </a:r>
          </a:p>
        </p:txBody>
      </p:sp>
      <p:sp>
        <p:nvSpPr>
          <p:cNvPr id="3" name="Content Placeholder 2"/>
          <p:cNvSpPr>
            <a:spLocks noGrp="1"/>
          </p:cNvSpPr>
          <p:nvPr>
            <p:ph idx="1"/>
          </p:nvPr>
        </p:nvSpPr>
        <p:spPr>
          <a:xfrm>
            <a:off x="838200" y="1825625"/>
            <a:ext cx="10515600" cy="4351338"/>
          </a:xfrm>
        </p:spPr>
        <p:txBody>
          <a:bodyPr>
            <a:normAutofit fontScale="85000"/>
          </a:bodyPr>
          <a:lstStyle/>
          <a:p>
            <a:pPr marL="0" indent="0">
              <a:buNone/>
            </a:pPr>
            <a:r>
              <a:rPr b="1"/>
              <a:t>Better prompt:</a:t>
            </a:r>
            <a:r>
              <a:t> “Answer only from the evidence provided or from sources you can cite. If the evidence is insufficient, say "I don't know" or "I don't have enough information." Separate verified facts from inferences. Do not fill gaps with plausible details.”</a:t>
            </a:r>
          </a:p>
          <a:p>
            <a:pPr/>
            <a:r>
              <a:rPr b="1"/>
              <a:t>Give it a boundary:</a:t>
            </a:r>
            <a:r>
              <a:t> use only this document, these sources, or a named tool</a:t>
            </a:r>
          </a:p>
          <a:p>
            <a:pPr/>
            <a:r>
              <a:rPr b="1"/>
              <a:t>Give it an escape:</a:t>
            </a:r>
            <a:r>
              <a:t> say what to do when the evidence is insufficient</a:t>
            </a:r>
          </a:p>
          <a:p>
            <a:pPr/>
            <a:r>
              <a:rPr b="1"/>
              <a:t>Give it a check:</a:t>
            </a:r>
            <a:r>
              <a:t> cite the source, quote the supporting passage, or run the test</a:t>
            </a:r>
          </a:p>
          <a:p>
            <a:pPr marL="0" indent="0">
              <a:buNone/>
            </a:pPr>
            <a:r>
              <a:rPr b="1"/>
              <a:t>You can make </a:t>
            </a:r>
            <a:r>
              <a:rPr b="1" i="1"/>
              <a:t>"I don't know" more likely</a:t>
            </a:r>
            <a:r>
              <a:rPr b="1"/>
              <a:t>. You cannot make it a guarantee.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Four things part 1 cannot explain</a:t>
            </a:r>
          </a:p>
        </p:txBody>
      </p:sp>
      <p:sp>
        <p:nvSpPr>
          <p:cNvPr id="3" name="Content Placeholder 2"/>
          <p:cNvSpPr>
            <a:spLocks noGrp="1"/>
          </p:cNvSpPr>
          <p:nvPr>
            <p:ph idx="1"/>
          </p:nvPr>
        </p:nvSpPr>
        <p:spPr>
          <a:xfrm>
            <a:off x="838200" y="1825625"/>
            <a:ext cx="10515600" cy="4351338"/>
          </a:xfrm>
        </p:spPr>
        <p:txBody>
          <a:bodyPr>
            <a:normAutofit/>
          </a:bodyPr>
          <a:lstStyle/>
          <a:p>
            <a:pPr/>
            <a:r>
              <a:t>Why does the way you ask decide whether it invents a function?</a:t>
            </a:r>
          </a:p>
          <a:p>
            <a:pPr/>
            <a:r>
              <a:t>Why does the </a:t>
            </a:r>
            <a:r>
              <a:rPr b="1"/>
              <a:t>same prompt</a:t>
            </a:r>
            <a:r>
              <a:t> give a different answer tomorrow?</a:t>
            </a:r>
          </a:p>
          <a:p>
            <a:pPr/>
            <a:r>
              <a:t>What exactly can it see — and why not the file beside the one you opened?</a:t>
            </a:r>
          </a:p>
          <a:p>
            <a:pPr/>
            <a:r>
              <a:t>Why does asking again </a:t>
            </a:r>
            <a:r>
              <a:rPr b="1"/>
              <a:t>in a fresh conversation</a:t>
            </a:r>
            <a:r>
              <a:t> change the answer?</a:t>
            </a:r>
          </a:p>
          <a:p>
            <a:pPr marL="0" indent="0">
              <a:buNone/>
            </a:pPr>
            <a:r>
              <a:rPr i="1"/>
              <a:t>part 2 is one mechanism behind all four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Break: Ten minutes</a:t>
            </a:r>
          </a:p>
        </p:txBody>
      </p:sp>
      <p:sp>
        <p:nvSpPr>
          <p:cNvPr id="3" name="Text Placeholder 2"/>
          <p:cNvSpPr>
            <a:spLocks noGrp="1"/>
          </p:cNvSpPr>
          <p:nvPr>
            <p:ph type="body" idx="1"/>
          </p:nvPr>
        </p:nvSpPr>
        <p:spPr/>
        <p:txBody>
          <a:bodyPr/>
          <a:lstStyle/>
          <a:p>
            <a:r>
              <a:t>Part 2 answers: how does "predict the next token" actually work — and what does that let you do about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What it actually sees: tokens</a:t>
            </a:r>
          </a:p>
        </p:txBody>
      </p:sp>
      <p:sp>
        <p:nvSpPr>
          <p:cNvPr id="4" name="Code 4" descr="Code, text"/>
          <p:cNvSpPr/>
          <p:nvPr/>
        </p:nvSpPr>
        <p:spPr>
          <a:xfrm>
            <a:off x="929640" y="1825625"/>
            <a:ext cx="9418320" cy="548639"/>
          </a:xfrm>
          <a:prstGeom prst="roundRect">
            <a:avLst>
              <a:gd name="adj" fmla="val 13333"/>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noAutofit/>
          </a:bodyPr>
          <a:lstStyle/>
          <a:p>
            <a:pPr algn="l">
              <a:lnSpc>
                <a:spcPct val="100000"/>
              </a:lnSpc>
              <a:spcBef>
                <a:spcPts val="0"/>
              </a:spcBef>
            </a:pPr>
            <a:r>
              <a:rPr sz="2400">
                <a:solidFill>
                  <a:srgbClr val="D4D4D4"/>
                </a:solidFill>
                <a:latin typeface="Consolas"/>
              </a:rPr>
              <a:t>[def] [ calculate] [_] [median] [(] [numbers] [):] [?]</a:t>
            </a:r>
          </a:p>
        </p:txBody>
      </p:sp>
      <p:sp>
        <p:nvSpPr>
          <p:cNvPr id="3" name="Content Placeholder 2"/>
          <p:cNvSpPr>
            <a:spLocks noGrp="1"/>
          </p:cNvSpPr>
          <p:nvPr>
            <p:ph idx="1"/>
          </p:nvPr>
        </p:nvSpPr>
        <p:spPr>
          <a:xfrm>
            <a:off x="838200" y="2557144"/>
            <a:ext cx="10515600" cy="3619819"/>
          </a:xfrm>
        </p:spPr>
        <p:txBody>
          <a:bodyPr>
            <a:normAutofit fontScale="77500"/>
          </a:bodyPr>
          <a:lstStyle/>
          <a:p>
            <a:pPr marL="0" indent="0">
              <a:buNone/>
            </a:pPr>
            <a:r>
              <a:rPr i="1"/>
              <a:t>one illustrative split: tools cut text differently, and [?] is the piece it is about to predict</a:t>
            </a:r>
          </a:p>
          <a:p>
            <a:pPr/>
            <a:r>
              <a:t>Text is cut into </a:t>
            </a:r>
            <a:r>
              <a:rPr b="1"/>
              <a:t>tokens</a:t>
            </a:r>
            <a:r>
              <a:t> — pieces of words, punctuation, runs of spaces — and each becomes a number</a:t>
            </a:r>
          </a:p>
          <a:p>
            <a:pPr/>
            <a:r>
              <a:t>It does not read letter by letter, and it does not read your code </a:t>
            </a:r>
            <a:r>
              <a:rPr i="1"/>
              <a:t>as code</a:t>
            </a:r>
            <a:r>
              <a:t>: a line of Python is a sequence of pieces, like a line of prose</a:t>
            </a:r>
          </a:p>
          <a:p>
            <a:pPr/>
            <a:r>
              <a:t>Training came in two rounds: first, learn from an enormous amount of text which pieces usually follow which; then, learn which replies people reward</a:t>
            </a:r>
          </a:p>
          <a:p>
            <a:pPr marL="0" indent="0">
              <a:buNone/>
            </a:pPr>
            <a:r>
              <a:rPr i="1"/>
              <a:t>why exact counting takes effort, and why "conventional" comes easy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same loop, one level down</a:t>
            </a:r>
          </a:p>
        </p:txBody>
      </p:sp>
      <p:grpSp>
        <p:nvGrpSpPr>
          <p:cNvPr id="4" name="Flow diagram"/>
          <p:cNvGrpSpPr/>
          <p:nvPr/>
        </p:nvGrpSpPr>
        <p:grpSpPr>
          <a:xfrm>
            <a:off x="0" y="0"/>
            <a:ext cx="11262360" cy="2941193"/>
            <a:chOff x="0" y="0"/>
            <a:chExt cx="11262360" cy="2941193"/>
          </a:xfrm>
        </p:grpSpPr>
        <p:sp>
          <p:nvSpPr>
            <p:cNvPr id="5" name="Step 1"/>
            <p:cNvSpPr/>
            <p:nvPr/>
          </p:nvSpPr>
          <p:spPr>
            <a:xfrm>
              <a:off x="929640" y="1825625"/>
              <a:ext cx="227457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01</a:t>
              </a:r>
            </a:p>
            <a:p>
              <a:pPr algn="l"/>
              <a:r>
                <a:rPr sz="2000">
                  <a:solidFill>
                    <a:schemeClr val="tx1"/>
                  </a:solidFill>
                </a:rPr>
                <a:t>Everything so far, as tokens</a:t>
              </a:r>
            </a:p>
          </p:txBody>
        </p:sp>
        <p:sp>
          <p:nvSpPr>
            <p:cNvPr id="6" name="Step 2"/>
            <p:cNvSpPr/>
            <p:nvPr/>
          </p:nvSpPr>
          <p:spPr>
            <a:xfrm>
              <a:off x="3615690" y="1825625"/>
              <a:ext cx="227457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02</a:t>
              </a:r>
            </a:p>
            <a:p>
              <a:pPr algn="l"/>
              <a:r>
                <a:rPr sz="2000">
                  <a:solidFill>
                    <a:schemeClr val="tx1"/>
                  </a:solidFill>
                </a:rPr>
                <a:t>Score </a:t>
              </a:r>
              <a:r>
                <a:rPr b="1" sz="2000">
                  <a:solidFill>
                    <a:schemeClr val="tx1"/>
                  </a:solidFill>
                </a:rPr>
                <a:t>every</a:t>
              </a:r>
              <a:r>
                <a:rPr sz="2000">
                  <a:solidFill>
                    <a:schemeClr val="tx1"/>
                  </a:solidFill>
                </a:rPr>
                <a:t> possible next token</a:t>
              </a:r>
            </a:p>
          </p:txBody>
        </p:sp>
        <p:sp>
          <p:nvSpPr>
            <p:cNvPr id="7" name="Step 3"/>
            <p:cNvSpPr/>
            <p:nvPr/>
          </p:nvSpPr>
          <p:spPr>
            <a:xfrm>
              <a:off x="6301740" y="1825625"/>
              <a:ext cx="227457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03</a:t>
              </a:r>
            </a:p>
            <a:p>
              <a:pPr algn="l"/>
              <a:r>
                <a:rPr sz="2000">
                  <a:solidFill>
                    <a:schemeClr val="tx1"/>
                  </a:solidFill>
                </a:rPr>
                <a:t>Pick one — usually a likely one</a:t>
              </a:r>
            </a:p>
          </p:txBody>
        </p:sp>
        <p:sp>
          <p:nvSpPr>
            <p:cNvPr id="8" name="Step 4"/>
            <p:cNvSpPr/>
            <p:nvPr/>
          </p:nvSpPr>
          <p:spPr>
            <a:xfrm>
              <a:off x="8987790" y="1825625"/>
              <a:ext cx="227457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04</a:t>
              </a:r>
            </a:p>
            <a:p>
              <a:pPr algn="l"/>
              <a:r>
                <a:rPr sz="2000">
                  <a:solidFill>
                    <a:schemeClr val="tx1"/>
                  </a:solidFill>
                </a:rPr>
                <a:t>Append it, feed it all back in</a:t>
              </a:r>
            </a:p>
          </p:txBody>
        </p:sp>
        <p:cxnSp>
          <p:nvCxnSpPr>
            <p:cNvPr id="9" name="Connector 8"/>
            <p:cNvCxnSpPr>
              <a:stCxn id="5" idx="3"/>
              <a:endCxn id="6" idx="1"/>
            </p:cNvCxnSpPr>
            <p:nvPr/>
          </p:nvCxnSpPr>
          <p:spPr>
            <a:xfrm flipV="1">
              <a:off x="320421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a:stCxn id="6" idx="3"/>
              <a:endCxn id="7" idx="1"/>
            </p:cNvCxnSpPr>
            <p:nvPr/>
          </p:nvCxnSpPr>
          <p:spPr>
            <a:xfrm flipV="1">
              <a:off x="589026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a:stCxn id="7" idx="3"/>
              <a:endCxn id="8" idx="1"/>
            </p:cNvCxnSpPr>
            <p:nvPr/>
          </p:nvCxnSpPr>
          <p:spPr>
            <a:xfrm flipV="1">
              <a:off x="857631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sp>
        <p:nvSpPr>
          <p:cNvPr id="3" name="Content Placeholder 2"/>
          <p:cNvSpPr>
            <a:spLocks noGrp="1"/>
          </p:cNvSpPr>
          <p:nvPr>
            <p:ph idx="1"/>
          </p:nvPr>
        </p:nvSpPr>
        <p:spPr>
          <a:xfrm>
            <a:off x="838200" y="3124073"/>
            <a:ext cx="10515600" cy="3052890"/>
          </a:xfrm>
        </p:spPr>
        <p:txBody>
          <a:bodyPr>
            <a:normAutofit/>
          </a:bodyPr>
          <a:lstStyle/>
          <a:p>
            <a:pPr/>
            <a:r>
              <a:t>The network is </a:t>
            </a:r>
            <a:r>
              <a:rPr b="1"/>
              <a:t>fixed</a:t>
            </a:r>
            <a:r>
              <a:t>. Between steps, only the sequence grows</a:t>
            </a:r>
          </a:p>
          <a:p>
            <a:pPr/>
            <a:r>
              <a:t>There is no step labelled "check". Likely, given everything before it, is the </a:t>
            </a:r>
            <a:r>
              <a:rPr b="1"/>
              <a:t>entire</a:t>
            </a:r>
            <a:r>
              <a:t> criterion</a:t>
            </a:r>
          </a:p>
          <a:p>
            <a:pPr/>
            <a:r>
              <a:t>So a reply is built one piece at a time, each piece committed before the next is chosen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context window: all it can see</a:t>
            </a:r>
          </a:p>
        </p:txBody>
      </p:sp>
      <p:grpSp>
        <p:nvGrpSpPr>
          <p:cNvPr id="4" name="Stack diagram"/>
          <p:cNvGrpSpPr/>
          <p:nvPr/>
        </p:nvGrpSpPr>
        <p:grpSpPr>
          <a:xfrm>
            <a:off x="929640" y="1825625"/>
            <a:ext cx="10332720" cy="2316480"/>
            <a:chOff x="929640" y="1825625"/>
            <a:chExt cx="10332720" cy="2316480"/>
          </a:xfrm>
        </p:grpSpPr>
        <p:sp>
          <p:nvSpPr>
            <p:cNvPr id="5" name="Layer 1"/>
            <p:cNvSpPr/>
            <p:nvPr/>
          </p:nvSpPr>
          <p:spPr>
            <a:xfrm>
              <a:off x="929640" y="1825625"/>
              <a:ext cx="10332720" cy="524256"/>
            </a:xfrm>
            <a:prstGeom prst="roundRect">
              <a:avLst>
                <a:gd name="adj" fmla="val 13953"/>
              </a:avLst>
            </a:prstGeom>
            <a:solidFill>
              <a:schemeClr val="accent1">
                <a:lumMod val="20000"/>
                <a:lumOff val="80000"/>
              </a:schemeClr>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Instructions the tool adds before you type anything</a:t>
              </a:r>
              <a:r>
                <a:rPr sz="1600">
                  <a:solidFill>
                    <a:schemeClr val="accent1"/>
                  </a:solidFill>
                </a:rPr>
                <a:t>	always in</a:t>
              </a:r>
            </a:p>
          </p:txBody>
        </p:sp>
        <p:sp>
          <p:nvSpPr>
            <p:cNvPr id="6" name="Layer 2"/>
            <p:cNvSpPr/>
            <p:nvPr/>
          </p:nvSpPr>
          <p:spPr>
            <a:xfrm>
              <a:off x="929640" y="2423033"/>
              <a:ext cx="103327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The conversation so far — </a:t>
              </a:r>
              <a:r>
                <a:rPr b="1" sz="2000">
                  <a:solidFill>
                    <a:schemeClr val="tx1"/>
                  </a:solidFill>
                </a:rPr>
                <a:t>including its own replies</a:t>
              </a:r>
              <a:r>
                <a:rPr sz="1600">
                  <a:solidFill>
                    <a:schemeClr val="accent1"/>
                  </a:solidFill>
                </a:rPr>
                <a:t>	in</a:t>
              </a:r>
            </a:p>
          </p:txBody>
        </p:sp>
        <p:sp>
          <p:nvSpPr>
            <p:cNvPr id="7" name="Layer 3"/>
            <p:cNvSpPr/>
            <p:nvPr/>
          </p:nvSpPr>
          <p:spPr>
            <a:xfrm>
              <a:off x="929640" y="3020441"/>
              <a:ext cx="103327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Files you attached or pasted, or the tool chose to include</a:t>
              </a:r>
              <a:r>
                <a:rPr sz="1600">
                  <a:solidFill>
                    <a:schemeClr val="accent1"/>
                  </a:solidFill>
                </a:rPr>
                <a:t>	in, if put there</a:t>
              </a:r>
            </a:p>
          </p:txBody>
        </p:sp>
        <p:sp>
          <p:nvSpPr>
            <p:cNvPr id="8" name="Layer 4"/>
            <p:cNvSpPr/>
            <p:nvPr/>
          </p:nvSpPr>
          <p:spPr>
            <a:xfrm>
              <a:off x="929640" y="3617849"/>
              <a:ext cx="10332720" cy="524256"/>
            </a:xfrm>
            <a:prstGeom prst="roundRect">
              <a:avLst>
                <a:gd name="adj" fmla="val 13953"/>
              </a:avLst>
            </a:prstGeom>
            <a:solidFill>
              <a:schemeClr val="accent2">
                <a:lumMod val="15000"/>
                <a:lumOff val="85000"/>
              </a:schemeClr>
            </a:solidFill>
            <a:ln w="19050">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2000">
                  <a:solidFill>
                    <a:schemeClr val="tx1"/>
                  </a:solidFill>
                </a:rPr>
                <a:t>The rest of your repo, the docs, the internet, yesterday's chat</a:t>
              </a:r>
              <a:r>
                <a:rPr sz="1600">
                  <a:solidFill>
                    <a:schemeClr val="accent2"/>
                  </a:solidFill>
                </a:rPr>
                <a:t>	not in</a:t>
              </a:r>
            </a:p>
          </p:txBody>
        </p:sp>
      </p:grpSp>
      <p:sp>
        <p:nvSpPr>
          <p:cNvPr id="3" name="Content Placeholder 2"/>
          <p:cNvSpPr>
            <a:spLocks noGrp="1"/>
          </p:cNvSpPr>
          <p:nvPr>
            <p:ph idx="1"/>
          </p:nvPr>
        </p:nvSpPr>
        <p:spPr>
          <a:xfrm>
            <a:off x="838200" y="4324985"/>
            <a:ext cx="10515600" cy="1851978"/>
          </a:xfrm>
        </p:spPr>
        <p:txBody>
          <a:bodyPr>
            <a:normAutofit/>
          </a:bodyPr>
          <a:lstStyle/>
          <a:p>
            <a:pPr/>
            <a:r>
              <a:t>It is </a:t>
            </a:r>
            <a:r>
              <a:rPr b="1"/>
              <a:t>finite</a:t>
            </a:r>
            <a:r>
              <a:t>. What does not fit is not seen</a:t>
            </a:r>
          </a:p>
          <a:p>
            <a:pPr/>
            <a:r>
              <a:t>Nothing outside it exists. "It can see the repo" is false unless the tool put the file 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Predict: does it remember?</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t>Yesterday you told it, in a long conversation, that your team names booleans </a:t>
            </a:r>
            <a:r>
              <a:rPr>
                <a:latin typeface="Consolas"/>
              </a:rPr>
              <a:t>is_…</a:t>
            </a:r>
            <a:r>
              <a:t> and never uses single-letter variables.</a:t>
            </a:r>
          </a:p>
          <a:p>
            <a:pPr marL="0" indent="0">
              <a:buNone/>
            </a:pPr>
            <a:r>
              <a:t>Today, in a </a:t>
            </a:r>
            <a:r>
              <a:rPr b="1"/>
              <a:t>new</a:t>
            </a:r>
            <a:r>
              <a:t> conversation, you ask for a function.</a:t>
            </a:r>
          </a:p>
          <a:p>
            <a:pPr/>
            <a:r>
              <a:t>It follows your convention — it learned it yesterday</a:t>
            </a:r>
          </a:p>
          <a:p>
            <a:pPr/>
            <a:r>
              <a:t>It follows the convention only if something put it in today's context</a:t>
            </a:r>
          </a:p>
          <a:p>
            <a:pPr/>
            <a:r>
              <a:t>It asks you what conventions to use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Frozen weights, live context</a:t>
            </a:r>
          </a:p>
        </p:txBody>
      </p:sp>
      <p:sp>
        <p:nvSpPr>
          <p:cNvPr id="3" name="Text Placeholder 2"/>
          <p:cNvSpPr>
            <a:spLocks noGrp="1"/>
          </p:cNvSpPr>
          <p:nvPr>
            <p:ph type="body" idx="1"/>
          </p:nvPr>
        </p:nvSpPr>
        <p:spPr/>
        <p:txBody>
          <a:bodyPr/>
          <a:lstStyle/>
          <a:p>
            <a:r>
              <a:t>Fixed at training</a:t>
            </a:r>
          </a:p>
        </p:txBody>
      </p:sp>
      <p:sp>
        <p:nvSpPr>
          <p:cNvPr id="4" name="Content Placeholder 3"/>
          <p:cNvSpPr>
            <a:spLocks noGrp="1"/>
          </p:cNvSpPr>
          <p:nvPr>
            <p:ph idx="2" sz="half"/>
          </p:nvPr>
        </p:nvSpPr>
        <p:spPr>
          <a:xfrm>
            <a:off x="839788" y="2505075"/>
            <a:ext cx="5157787" cy="1856804"/>
          </a:xfrm>
        </p:spPr>
        <p:txBody>
          <a:bodyPr>
            <a:normAutofit fontScale="92500"/>
          </a:bodyPr>
          <a:lstStyle/>
          <a:p>
            <a:pPr/>
            <a:r>
              <a:t>What it knows, up to a cutoff</a:t>
            </a:r>
          </a:p>
          <a:p>
            <a:pPr/>
            <a:r>
              <a:t>How it writes; what counts as "typical"</a:t>
            </a:r>
          </a:p>
          <a:p>
            <a:pPr/>
            <a:r>
              <a:t>Nothing you type changes it</a:t>
            </a:r>
          </a:p>
        </p:txBody>
      </p:sp>
      <p:sp>
        <p:nvSpPr>
          <p:cNvPr id="5" name="Text Placeholder 4"/>
          <p:cNvSpPr>
            <a:spLocks noGrp="1"/>
          </p:cNvSpPr>
          <p:nvPr>
            <p:ph type="body" idx="3" sz="quarter"/>
          </p:nvPr>
        </p:nvSpPr>
        <p:spPr/>
        <p:txBody>
          <a:bodyPr/>
          <a:lstStyle/>
          <a:p>
            <a:r>
              <a:t>Changed by you, every message</a:t>
            </a:r>
          </a:p>
        </p:txBody>
      </p:sp>
      <p:sp>
        <p:nvSpPr>
          <p:cNvPr id="6" name="Content Placeholder 5"/>
          <p:cNvSpPr>
            <a:spLocks noGrp="1"/>
          </p:cNvSpPr>
          <p:nvPr>
            <p:ph idx="4" sz="quarter"/>
          </p:nvPr>
        </p:nvSpPr>
        <p:spPr>
          <a:xfrm>
            <a:off x="6172200" y="2505075"/>
            <a:ext cx="5183188" cy="1856804"/>
          </a:xfrm>
        </p:spPr>
        <p:txBody>
          <a:bodyPr>
            <a:normAutofit fontScale="92500"/>
          </a:bodyPr>
          <a:lstStyle/>
          <a:p>
            <a:pPr/>
            <a:r>
              <a:t>What it can </a:t>
            </a:r>
            <a:r>
              <a:rPr b="1"/>
              <a:t>see</a:t>
            </a:r>
            <a:r>
              <a:t> right now</a:t>
            </a:r>
          </a:p>
          <a:p>
            <a:pPr/>
            <a:r>
              <a:t>The question, and how it is framed</a:t>
            </a:r>
          </a:p>
          <a:p>
            <a:pPr/>
            <a:r>
              <a:t>Everything you type changes it</a:t>
            </a:r>
          </a:p>
        </p:txBody>
      </p:sp>
      <p:sp>
        <p:nvSpPr>
          <p:cNvPr id="7" name="Text 7"/>
          <p:cNvSpPr txBox="1"/>
          <p:nvPr/>
        </p:nvSpPr>
        <p:spPr>
          <a:xfrm>
            <a:off x="839788" y="4544759"/>
            <a:ext cx="10515600" cy="1644904"/>
          </a:xfrm>
          <a:prstGeom prst="rect">
            <a:avLst/>
          </a:prstGeom>
          <a:noFill/>
        </p:spPr>
        <p:txBody>
          <a:bodyPr wrap="square">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r>
              <a:t>"It learned that yesterday" is never true. </a:t>
            </a:r>
            <a:r>
              <a:rPr b="1"/>
              <a:t>It was in the context yesterday</a:t>
            </a:r>
          </a:p>
          <a:p>
            <a:pPr/>
            <a:r>
              <a:t>Anything it must know every time has to be written down where the tool will put it in — every time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7" grpId="0" build="p"/>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When it does look things up</a:t>
            </a:r>
          </a:p>
        </p:txBody>
      </p:sp>
      <p:grpSp>
        <p:nvGrpSpPr>
          <p:cNvPr id="4" name="Flow diagram"/>
          <p:cNvGrpSpPr/>
          <p:nvPr/>
        </p:nvGrpSpPr>
        <p:grpSpPr>
          <a:xfrm>
            <a:off x="0" y="0"/>
            <a:ext cx="11262360" cy="2941193"/>
            <a:chOff x="0" y="0"/>
            <a:chExt cx="11262360" cy="2941193"/>
          </a:xfrm>
        </p:grpSpPr>
        <p:sp>
          <p:nvSpPr>
            <p:cNvPr id="5" name="Step 1"/>
            <p:cNvSpPr/>
            <p:nvPr/>
          </p:nvSpPr>
          <p:spPr>
            <a:xfrm>
              <a:off x="929640" y="1825625"/>
              <a:ext cx="316992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01</a:t>
              </a:r>
            </a:p>
            <a:p>
              <a:pPr algn="l"/>
              <a:r>
                <a:rPr sz="2000">
                  <a:solidFill>
                    <a:schemeClr val="tx1"/>
                  </a:solidFill>
                </a:rPr>
                <a:t>The tool runs a search, reads a file, runs a test</a:t>
              </a:r>
            </a:p>
          </p:txBody>
        </p:sp>
        <p:sp>
          <p:nvSpPr>
            <p:cNvPr id="6" name="Step 2"/>
            <p:cNvSpPr/>
            <p:nvPr/>
          </p:nvSpPr>
          <p:spPr>
            <a:xfrm>
              <a:off x="4511040" y="1825625"/>
              <a:ext cx="316992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02</a:t>
              </a:r>
            </a:p>
            <a:p>
              <a:pPr algn="l"/>
              <a:r>
                <a:rPr sz="2000">
                  <a:solidFill>
                    <a:schemeClr val="tx1"/>
                  </a:solidFill>
                </a:rPr>
                <a:t>The result is </a:t>
              </a:r>
              <a:r>
                <a:rPr b="1" sz="2000">
                  <a:solidFill>
                    <a:schemeClr val="tx1"/>
                  </a:solidFill>
                </a:rPr>
                <a:t>pasted into the context</a:t>
              </a:r>
            </a:p>
          </p:txBody>
        </p:sp>
        <p:sp>
          <p:nvSpPr>
            <p:cNvPr id="7" name="Step 3"/>
            <p:cNvSpPr/>
            <p:nvPr/>
          </p:nvSpPr>
          <p:spPr>
            <a:xfrm>
              <a:off x="8092440" y="1825625"/>
              <a:ext cx="3169920" cy="11155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r>
                <a:rPr sz="1400" b="1">
                  <a:solidFill>
                    <a:schemeClr val="accent1"/>
                  </a:solidFill>
                </a:rPr>
                <a:t>03</a:t>
              </a:r>
            </a:p>
            <a:p>
              <a:pPr algn="l"/>
              <a:r>
                <a:rPr sz="2000">
                  <a:solidFill>
                    <a:schemeClr val="tx1"/>
                  </a:solidFill>
                </a:rPr>
                <a:t>Prediction continues — over the new text</a:t>
              </a:r>
            </a:p>
          </p:txBody>
        </p:sp>
        <p:cxnSp>
          <p:nvCxnSpPr>
            <p:cNvPr id="8" name="Connector 7"/>
            <p:cNvCxnSpPr>
              <a:stCxn id="5" idx="3"/>
              <a:endCxn id="6" idx="1"/>
            </p:cNvCxnSpPr>
            <p:nvPr/>
          </p:nvCxnSpPr>
          <p:spPr>
            <a:xfrm flipV="1">
              <a:off x="409956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a:stCxn id="6" idx="3"/>
              <a:endCxn id="7" idx="1"/>
            </p:cNvCxnSpPr>
            <p:nvPr/>
          </p:nvCxnSpPr>
          <p:spPr>
            <a:xfrm flipV="1">
              <a:off x="7680960" y="2383409"/>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sp>
        <p:nvSpPr>
          <p:cNvPr id="3" name="Content Placeholder 2"/>
          <p:cNvSpPr>
            <a:spLocks noGrp="1"/>
          </p:cNvSpPr>
          <p:nvPr>
            <p:ph idx="1"/>
          </p:nvPr>
        </p:nvSpPr>
        <p:spPr>
          <a:xfrm>
            <a:off x="838200" y="3124073"/>
            <a:ext cx="10515600" cy="3052890"/>
          </a:xfrm>
        </p:spPr>
        <p:txBody>
          <a:bodyPr>
            <a:normAutofit/>
          </a:bodyPr>
          <a:lstStyle/>
          <a:p>
            <a:pPr/>
            <a:r>
              <a:t>Retrieval changes </a:t>
            </a:r>
            <a:r>
              <a:rPr b="1"/>
              <a:t>what is in the context</a:t>
            </a:r>
            <a:r>
              <a:t>. It does not change the mechanism</a:t>
            </a:r>
          </a:p>
          <a:p>
            <a:pPr/>
            <a:r>
              <a:t>A looked-up fact can still be misread, misquoted, or outvoted by "typical" — the step after the lookup is still prediction</a:t>
            </a:r>
          </a:p>
          <a:p>
            <a:pPr marL="0" indent="0">
              <a:buNone/>
            </a:pPr>
            <a:r>
              <a:rPr i="1"/>
              <a:t>a tool that can search has raised the odds, not removed the check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ranked list</a:t>
            </a:r>
          </a:p>
        </p:txBody>
      </p:sp>
      <p:sp>
        <p:nvSpPr>
          <p:cNvPr id="3" name="Content Placeholder 2"/>
          <p:cNvSpPr>
            <a:spLocks noGrp="1"/>
          </p:cNvSpPr>
          <p:nvPr>
            <p:ph idx="1"/>
          </p:nvPr>
        </p:nvSpPr>
        <p:spPr>
          <a:xfrm>
            <a:off x="838200" y="1825625"/>
            <a:ext cx="10515600" cy="804672"/>
          </a:xfrm>
        </p:spPr>
        <p:txBody>
          <a:bodyPr>
            <a:normAutofit fontScale="92500"/>
          </a:bodyPr>
          <a:lstStyle/>
          <a:p>
            <a:pPr marL="0" indent="0">
              <a:buNone/>
            </a:pPr>
            <a:r>
              <a:rPr b="1"/>
              <a:t>Prompt:</a:t>
            </a:r>
            <a:r>
              <a:t> “Write a function that loads a spreadsheet using pandas.read_excel_fast()”</a:t>
            </a:r>
          </a:p>
        </p:txBody>
      </p:sp>
      <p:grpSp>
        <p:nvGrpSpPr>
          <p:cNvPr id="4" name="Stack diagram"/>
          <p:cNvGrpSpPr/>
          <p:nvPr/>
        </p:nvGrpSpPr>
        <p:grpSpPr>
          <a:xfrm>
            <a:off x="929640" y="2813177"/>
            <a:ext cx="10332720" cy="1627632"/>
            <a:chOff x="929640" y="2813177"/>
            <a:chExt cx="10332720" cy="1627632"/>
          </a:xfrm>
        </p:grpSpPr>
        <p:sp>
          <p:nvSpPr>
            <p:cNvPr id="5" name="Layer 1"/>
            <p:cNvSpPr/>
            <p:nvPr/>
          </p:nvSpPr>
          <p:spPr>
            <a:xfrm>
              <a:off x="929640" y="2813177"/>
              <a:ext cx="10332720" cy="493776"/>
            </a:xfrm>
            <a:prstGeom prst="roundRect">
              <a:avLst>
                <a:gd name="adj" fmla="val 14814"/>
              </a:avLst>
            </a:prstGeom>
            <a:solidFill>
              <a:schemeClr val="accent1">
                <a:lumMod val="20000"/>
                <a:lumOff val="80000"/>
              </a:schemeClr>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1800">
                  <a:solidFill>
                    <a:schemeClr val="tx1"/>
                  </a:solidFill>
                  <a:latin typeface="Consolas"/>
                </a:rPr>
                <a:t>def load_sheet(path):</a:t>
              </a:r>
              <a:r>
                <a:rPr sz="1800">
                  <a:solidFill>
                    <a:schemeClr val="tx1"/>
                  </a:solidFill>
                </a:rPr>
                <a:t> — code that uses the function named</a:t>
              </a:r>
              <a:r>
                <a:rPr sz="1400">
                  <a:solidFill>
                    <a:schemeClr val="accent1"/>
                  </a:solidFill>
                </a:rPr>
                <a:t>	most likely</a:t>
              </a:r>
            </a:p>
          </p:txBody>
        </p:sp>
        <p:sp>
          <p:nvSpPr>
            <p:cNvPr id="6" name="Layer 2"/>
            <p:cNvSpPr/>
            <p:nvPr/>
          </p:nvSpPr>
          <p:spPr>
            <a:xfrm>
              <a:off x="929640" y="3380105"/>
              <a:ext cx="10332720" cy="493776"/>
            </a:xfrm>
            <a:prstGeom prst="roundRect">
              <a:avLst>
                <a:gd name="adj" fmla="val 14814"/>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1800">
                  <a:solidFill>
                    <a:schemeClr val="tx1"/>
                  </a:solidFill>
                </a:rPr>
                <a:t>"Here's a function that…" — prose, then the same code</a:t>
              </a:r>
              <a:r>
                <a:rPr sz="1400">
                  <a:solidFill>
                    <a:schemeClr val="accent1"/>
                  </a:solidFill>
                </a:rPr>
                <a:t>	likely</a:t>
              </a:r>
            </a:p>
          </p:txBody>
        </p:sp>
        <p:sp>
          <p:nvSpPr>
            <p:cNvPr id="7" name="Layer 3"/>
            <p:cNvSpPr/>
            <p:nvPr/>
          </p:nvSpPr>
          <p:spPr>
            <a:xfrm>
              <a:off x="929640" y="3947033"/>
              <a:ext cx="10332720" cy="493776"/>
            </a:xfrm>
            <a:prstGeom prst="roundRect">
              <a:avLst>
                <a:gd name="adj" fmla="val 14814"/>
              </a:avLst>
            </a:prstGeom>
            <a:noFill/>
            <a:ln w="19050">
              <a:solidFill>
                <a:schemeClr val="tx1">
                  <a:lumMod val="50000"/>
                  <a:lumOff val="50000"/>
                </a:scheme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l">
                <a:tabLst>
                  <a:tab pos="10113264" algn="r"/>
                </a:tabLst>
              </a:pPr>
              <a:r>
                <a:rPr sz="1800">
                  <a:solidFill>
                    <a:schemeClr val="tx1">
                      <a:lumMod val="65000"/>
                      <a:lumOff val="35000"/>
                    </a:schemeClr>
                  </a:solidFill>
                </a:rPr>
                <a:t>"pandas has no </a:t>
              </a:r>
              <a:r>
                <a:rPr sz="1800">
                  <a:solidFill>
                    <a:schemeClr val="tx1">
                      <a:lumMod val="65000"/>
                      <a:lumOff val="35000"/>
                    </a:schemeClr>
                  </a:solidFill>
                  <a:latin typeface="Consolas"/>
                </a:rPr>
                <a:t>read_excel_fast</a:t>
              </a:r>
              <a:r>
                <a:rPr sz="1800">
                  <a:solidFill>
                    <a:schemeClr val="tx1">
                      <a:lumMod val="65000"/>
                      <a:lumOff val="35000"/>
                    </a:schemeClr>
                  </a:solidFill>
                </a:rPr>
                <a:t>; did you mean…"</a:t>
              </a:r>
              <a:r>
                <a:rPr sz="1400">
                  <a:solidFill>
                    <a:schemeClr val="tx1">
                      <a:lumMod val="50000"/>
                      <a:lumOff val="50000"/>
                    </a:schemeClr>
                  </a:solidFill>
                </a:rPr>
                <a:t>	rare, until training pushed it up</a:t>
              </a:r>
            </a:p>
          </p:txBody>
        </p:sp>
      </p:grpSp>
      <p:sp>
        <p:nvSpPr>
          <p:cNvPr id="8" name="Text 8"/>
          <p:cNvSpPr txBox="1"/>
          <p:nvPr/>
        </p:nvSpPr>
        <p:spPr>
          <a:xfrm>
            <a:off x="838200" y="4623689"/>
            <a:ext cx="10515600" cy="1553274"/>
          </a:xfrm>
          <a:prstGeom prst="rect">
            <a:avLst/>
          </a:prstGeom>
          <a:noFill/>
        </p:spPr>
        <p:txBody>
          <a:bodyPr wrap="square">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r>
              <a:t>The request </a:t>
            </a:r>
            <a:r>
              <a:rPr b="1"/>
              <a:t>presupposed</a:t>
            </a:r>
            <a:r>
              <a:t> the function. The ranking inherited it</a:t>
            </a:r>
          </a:p>
          <a:p>
            <a:pPr/>
            <a:r>
              <a:t>The pick is usually likely, not always top: same prompt, different answers — and often the same fiction again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Predict: fresh conversation, direct question</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t>Say it has written </a:t>
            </a:r>
            <a:r>
              <a:rPr>
                <a:latin typeface="Consolas"/>
              </a:rPr>
              <a:t>pd.read_excel_fast(...)</a:t>
            </a:r>
            <a:r>
              <a:t> for you. Ask it to, and it will.</a:t>
            </a:r>
          </a:p>
          <a:p>
            <a:pPr marL="0" indent="0">
              <a:buNone/>
            </a:pPr>
            <a:r>
              <a:t>You open a </a:t>
            </a:r>
            <a:r>
              <a:rPr b="1"/>
              <a:t>new</a:t>
            </a:r>
            <a:r>
              <a:t> conversation and ask:</a:t>
            </a:r>
          </a:p>
          <a:p>
            <a:pPr marL="0" indent="0">
              <a:buNone/>
            </a:pPr>
            <a:r>
              <a:rPr b="1"/>
              <a:t>Prompt:</a:t>
            </a:r>
            <a:r>
              <a:t> “Does pandas.read_excel_fast actually exist?”</a:t>
            </a:r>
          </a:p>
          <a:p>
            <a:pPr/>
            <a:r>
              <a:t>It insists it exists — it just used it</a:t>
            </a:r>
          </a:p>
          <a:p>
            <a:pPr/>
            <a:r>
              <a:t>It says no, and names the real function</a:t>
            </a:r>
          </a:p>
          <a:p>
            <a:pPr/>
            <a:r>
              <a:t>It says it cannot know without checking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Usually: the truth</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rPr b="1"/>
              <a:t>Reply:</a:t>
            </a:r>
            <a:r>
              <a:t> “No — pandas has read_excel(), but there is no read_excel_fast(). Did you mean read_excel()?”</a:t>
            </a:r>
          </a:p>
          <a:p>
            <a:pPr/>
            <a:r>
              <a:t>Same weights, same knowledge, </a:t>
            </a:r>
            <a:r>
              <a:rPr b="1"/>
              <a:t>different question</a:t>
            </a:r>
            <a:r>
              <a:t> — the ranking followed the question</a:t>
            </a:r>
          </a:p>
          <a:p>
            <a:pPr/>
            <a:r>
              <a:t>In the conversation that wrote the code, the code is now context, and agreeing with itself is the plausible continuation</a:t>
            </a:r>
          </a:p>
          <a:p>
            <a:pPr marL="0" indent="0">
              <a:buNone/>
            </a:pPr>
            <a:r>
              <a:rPr b="1"/>
              <a:t>It had the information. </a:t>
            </a:r>
            <a:r>
              <a:rPr b="1" i="1"/>
              <a:t>Nothing in the first prompt made it check.</a:t>
            </a:r>
            <a:r>
              <a:rPr b="1"/>
              <a:t> Ask for a check as a check — and ask in a fresh conversation.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Predict: explain a file it cannot see</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t>You have a file called </a:t>
            </a:r>
            <a:r>
              <a:rPr>
                <a:latin typeface="Consolas"/>
              </a:rPr>
              <a:t>backup.py</a:t>
            </a:r>
            <a:r>
              <a:t>. You have </a:t>
            </a:r>
            <a:r>
              <a:rPr b="1"/>
              <a:t>not</a:t>
            </a:r>
            <a:r>
              <a:t> opened it, attached it, or pasted it.</a:t>
            </a:r>
          </a:p>
          <a:p>
            <a:pPr marL="0" indent="0">
              <a:buNone/>
            </a:pPr>
            <a:r>
              <a:rPr b="1"/>
              <a:t>Prompt:</a:t>
            </a:r>
            <a:r>
              <a:t> “Explain what backup.py does.”</a:t>
            </a:r>
          </a:p>
          <a:p>
            <a:pPr/>
            <a:r>
              <a:t>It says it cannot see the file</a:t>
            </a:r>
          </a:p>
          <a:p>
            <a:pPr/>
            <a:r>
              <a:t>It asks you to paste it</a:t>
            </a:r>
          </a:p>
          <a:p>
            <a:pPr/>
            <a:r>
              <a:t>It explains, fluently, what a file called that usually does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A disclaimer, then a plausible guess</a:t>
            </a:r>
          </a:p>
        </p:txBody>
      </p:sp>
      <p:sp>
        <p:nvSpPr>
          <p:cNvPr id="3" name="Content Placeholder 2"/>
          <p:cNvSpPr>
            <a:spLocks noGrp="1"/>
          </p:cNvSpPr>
          <p:nvPr>
            <p:ph idx="1"/>
          </p:nvPr>
        </p:nvSpPr>
        <p:spPr>
          <a:xfrm>
            <a:off x="838200" y="1825625"/>
            <a:ext cx="10515600" cy="4351338"/>
          </a:xfrm>
        </p:spPr>
        <p:txBody>
          <a:bodyPr>
            <a:normAutofit/>
          </a:bodyPr>
          <a:lstStyle/>
          <a:p>
            <a:pPr marL="0" indent="0">
              <a:buNone/>
            </a:pPr>
            <a:r>
              <a:rPr b="1"/>
              <a:t>Reply:</a:t>
            </a:r>
            <a:r>
              <a:t> “I can't see backup.py, but a script with that name is typically one that copies important files or directories to a backup location — usually a timestamped folder or an archive — and may compress them. It will likely use shutil or zipfile, and may accept the source and destination paths as arguments.”</a:t>
            </a:r>
          </a:p>
          <a:p>
            <a:pPr/>
            <a:r>
              <a:t>Nothing here is false about backup scripts </a:t>
            </a:r>
            <a:r>
              <a:rPr b="1"/>
              <a:t>in general</a:t>
            </a:r>
          </a:p>
          <a:p>
            <a:pPr/>
            <a:r>
              <a:t>Nothing here is known to be true about </a:t>
            </a:r>
            <a:r>
              <a:rPr b="1"/>
              <a:t>this one</a:t>
            </a:r>
          </a:p>
          <a:p>
            <a:pPr marL="0" indent="0">
              <a:buNone/>
            </a:pPr>
            <a:r>
              <a:rPr b="1"/>
              <a:t>Unlike a hallucination, a guess from a filename has a tell: </a:t>
            </a:r>
            <a:r>
              <a:rPr b="1" i="1"/>
              <a:t>typically, usually, likely, may</a:t>
            </a:r>
            <a:r>
              <a:rPr b="1"/>
              <a:t>. Those words, and the disclaimer, are the honest part of the answer.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Same question, file in the conversation</a:t>
            </a:r>
          </a:p>
        </p:txBody>
      </p:sp>
      <p:sp>
        <p:nvSpPr>
          <p:cNvPr id="4" name="Code 4" descr="Code, python"/>
          <p:cNvSpPr/>
          <p:nvPr/>
        </p:nvSpPr>
        <p:spPr>
          <a:xfrm>
            <a:off x="929640" y="1825625"/>
            <a:ext cx="5897880" cy="2926080"/>
          </a:xfrm>
          <a:prstGeom prst="roundRect">
            <a:avLst>
              <a:gd name="adj" fmla="val 25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noAutofit/>
          </a:bodyPr>
          <a:lstStyle/>
          <a:p>
            <a:pPr algn="l">
              <a:lnSpc>
                <a:spcPct val="100000"/>
              </a:lnSpc>
              <a:spcBef>
                <a:spcPts val="0"/>
              </a:spcBef>
            </a:pPr>
            <a:r>
              <a:rPr sz="1800">
                <a:solidFill>
                  <a:srgbClr val="C586C0"/>
                </a:solidFill>
                <a:latin typeface="Consolas"/>
              </a:rPr>
              <a:t>import</a:t>
            </a:r>
            <a:r>
              <a:rPr sz="1800">
                <a:solidFill>
                  <a:srgbClr val="D4D4D4"/>
                </a:solidFill>
                <a:latin typeface="Consolas"/>
              </a:rPr>
              <a:t> </a:t>
            </a:r>
            <a:r>
              <a:rPr sz="1800">
                <a:solidFill>
                  <a:srgbClr val="4EC9B0"/>
                </a:solidFill>
                <a:latin typeface="Consolas"/>
              </a:rPr>
              <a:t>time</a:t>
            </a:r>
          </a:p>
          <a:p>
            <a:pPr algn="l">
              <a:lnSpc>
                <a:spcPct val="100000"/>
              </a:lnSpc>
              <a:spcBef>
                <a:spcPts val="0"/>
              </a:spcBef>
            </a:pPr>
            <a:r>
              <a:rPr sz="1800">
                <a:solidFill>
                  <a:srgbClr val="C586C0"/>
                </a:solidFill>
                <a:latin typeface="Consolas"/>
              </a:rPr>
              <a:t>from</a:t>
            </a:r>
            <a:r>
              <a:rPr sz="1800">
                <a:solidFill>
                  <a:srgbClr val="D4D4D4"/>
                </a:solidFill>
                <a:latin typeface="Consolas"/>
              </a:rPr>
              <a:t> </a:t>
            </a:r>
            <a:r>
              <a:rPr sz="1800">
                <a:solidFill>
                  <a:srgbClr val="4EC9B0"/>
                </a:solidFill>
                <a:latin typeface="Consolas"/>
              </a:rPr>
              <a:t>pathlib</a:t>
            </a:r>
            <a:r>
              <a:rPr sz="1800">
                <a:solidFill>
                  <a:srgbClr val="D4D4D4"/>
                </a:solidFill>
                <a:latin typeface="Consolas"/>
              </a:rPr>
              <a:t> </a:t>
            </a:r>
            <a:r>
              <a:rPr sz="1800">
                <a:solidFill>
                  <a:srgbClr val="C586C0"/>
                </a:solidFill>
                <a:latin typeface="Consolas"/>
              </a:rPr>
              <a:t>import</a:t>
            </a:r>
            <a:r>
              <a:rPr sz="1800">
                <a:solidFill>
                  <a:srgbClr val="D4D4D4"/>
                </a:solidFill>
                <a:latin typeface="Consolas"/>
              </a:rPr>
              <a:t> </a:t>
            </a:r>
            <a:r>
              <a:rPr sz="1800">
                <a:solidFill>
                  <a:srgbClr val="9CDCFE"/>
                </a:solidFill>
                <a:latin typeface="Consolas"/>
              </a:rPr>
              <a:t>Path</a:t>
            </a:r>
          </a:p>
          <a:p>
            <a:pPr algn="l">
              <a:lnSpc>
                <a:spcPct val="100000"/>
              </a:lnSpc>
              <a:spcBef>
                <a:spcPts val="0"/>
              </a:spcBef>
            </a:pPr>
            <a:r>
              <a:rPr sz="1800">
                <a:solidFill>
                  <a:srgbClr val="D4D4D4"/>
                </a:solidFill>
                <a:latin typeface="Consolas"/>
              </a:rPr>
              <a:t> </a:t>
            </a:r>
          </a:p>
          <a:p>
            <a:pPr algn="l">
              <a:lnSpc>
                <a:spcPct val="100000"/>
              </a:lnSpc>
              <a:spcBef>
                <a:spcPts val="0"/>
              </a:spcBef>
            </a:pPr>
            <a:r>
              <a:rPr sz="1800">
                <a:solidFill>
                  <a:srgbClr val="9CDCFE"/>
                </a:solidFill>
                <a:latin typeface="Consolas"/>
              </a:rPr>
              <a:t>KEEP_DAYS</a:t>
            </a:r>
            <a:r>
              <a:rPr sz="1800">
                <a:solidFill>
                  <a:srgbClr val="D4D4D4"/>
                </a:solidFill>
                <a:latin typeface="Consolas"/>
              </a:rPr>
              <a:t> = </a:t>
            </a:r>
            <a:r>
              <a:rPr sz="1800">
                <a:solidFill>
                  <a:srgbClr val="B5CEA8"/>
                </a:solidFill>
                <a:latin typeface="Consolas"/>
              </a:rPr>
              <a:t>30</a:t>
            </a:r>
          </a:p>
          <a:p>
            <a:pPr algn="l">
              <a:lnSpc>
                <a:spcPct val="100000"/>
              </a:lnSpc>
              <a:spcBef>
                <a:spcPts val="0"/>
              </a:spcBef>
            </a:pPr>
            <a:r>
              <a:rPr sz="1800">
                <a:solidFill>
                  <a:srgbClr val="D4D4D4"/>
                </a:solidFill>
                <a:latin typeface="Consolas"/>
              </a:rPr>
              <a:t> </a:t>
            </a:r>
          </a:p>
          <a:p>
            <a:pPr algn="l">
              <a:lnSpc>
                <a:spcPct val="100000"/>
              </a:lnSpc>
              <a:spcBef>
                <a:spcPts val="0"/>
              </a:spcBef>
            </a:pPr>
            <a:r>
              <a:rPr sz="1800">
                <a:solidFill>
                  <a:srgbClr val="569CD6"/>
                </a:solidFill>
                <a:latin typeface="Consolas"/>
              </a:rPr>
              <a:t>def</a:t>
            </a:r>
            <a:r>
              <a:rPr sz="1800">
                <a:solidFill>
                  <a:srgbClr val="D4D4D4"/>
                </a:solidFill>
                <a:latin typeface="Consolas"/>
              </a:rPr>
              <a:t> </a:t>
            </a:r>
            <a:r>
              <a:rPr sz="1800">
                <a:solidFill>
                  <a:srgbClr val="DCDCAA"/>
                </a:solidFill>
                <a:latin typeface="Consolas"/>
              </a:rPr>
              <a:t>prune</a:t>
            </a:r>
            <a:r>
              <a:rPr sz="1800">
                <a:solidFill>
                  <a:srgbClr val="D4D4D4"/>
                </a:solidFill>
                <a:latin typeface="Consolas"/>
              </a:rPr>
              <a:t>(</a:t>
            </a:r>
            <a:r>
              <a:rPr sz="1800">
                <a:solidFill>
                  <a:srgbClr val="9CDCFE"/>
                </a:solidFill>
                <a:latin typeface="Consolas"/>
              </a:rPr>
              <a:t>folder</a:t>
            </a:r>
            <a:r>
              <a:rPr sz="1800">
                <a:solidFill>
                  <a:srgbClr val="D4D4D4"/>
                </a:solidFill>
                <a:latin typeface="Consolas"/>
              </a:rPr>
              <a:t>):</a:t>
            </a:r>
          </a:p>
          <a:p>
            <a:pPr algn="l">
              <a:lnSpc>
                <a:spcPct val="100000"/>
              </a:lnSpc>
              <a:spcBef>
                <a:spcPts val="0"/>
              </a:spcBef>
            </a:pPr>
            <a:r>
              <a:rPr sz="1800">
                <a:solidFill>
                  <a:srgbClr val="D4D4D4"/>
                </a:solidFill>
                <a:latin typeface="Consolas"/>
              </a:rPr>
              <a:t>    </a:t>
            </a:r>
            <a:r>
              <a:rPr sz="1800">
                <a:solidFill>
                  <a:srgbClr val="9CDCFE"/>
                </a:solidFill>
                <a:latin typeface="Consolas"/>
              </a:rPr>
              <a:t>cutoff</a:t>
            </a:r>
            <a:r>
              <a:rPr sz="1800">
                <a:solidFill>
                  <a:srgbClr val="D4D4D4"/>
                </a:solidFill>
                <a:latin typeface="Consolas"/>
              </a:rPr>
              <a:t> = </a:t>
            </a:r>
            <a:r>
              <a:rPr sz="1800">
                <a:solidFill>
                  <a:srgbClr val="9CDCFE"/>
                </a:solidFill>
                <a:latin typeface="Consolas"/>
              </a:rPr>
              <a:t>time</a:t>
            </a:r>
            <a:r>
              <a:rPr sz="1800">
                <a:solidFill>
                  <a:srgbClr val="D4D4D4"/>
                </a:solidFill>
                <a:latin typeface="Consolas"/>
              </a:rPr>
              <a:t>.</a:t>
            </a:r>
            <a:r>
              <a:rPr sz="1800">
                <a:solidFill>
                  <a:srgbClr val="9CDCFE"/>
                </a:solidFill>
                <a:latin typeface="Consolas"/>
              </a:rPr>
              <a:t>time</a:t>
            </a:r>
            <a:r>
              <a:rPr sz="1800">
                <a:solidFill>
                  <a:srgbClr val="D4D4D4"/>
                </a:solidFill>
                <a:latin typeface="Consolas"/>
              </a:rPr>
              <a:t>() - </a:t>
            </a:r>
            <a:r>
              <a:rPr sz="1800">
                <a:solidFill>
                  <a:srgbClr val="9CDCFE"/>
                </a:solidFill>
                <a:latin typeface="Consolas"/>
              </a:rPr>
              <a:t>KEEP_DAYS</a:t>
            </a:r>
            <a:r>
              <a:rPr sz="1800">
                <a:solidFill>
                  <a:srgbClr val="D4D4D4"/>
                </a:solidFill>
                <a:latin typeface="Consolas"/>
              </a:rPr>
              <a:t> * </a:t>
            </a:r>
            <a:r>
              <a:rPr sz="1800">
                <a:solidFill>
                  <a:srgbClr val="B5CEA8"/>
                </a:solidFill>
                <a:latin typeface="Consolas"/>
              </a:rPr>
              <a:t>86400</a:t>
            </a:r>
          </a:p>
          <a:p>
            <a:pPr algn="l">
              <a:lnSpc>
                <a:spcPct val="100000"/>
              </a:lnSpc>
              <a:spcBef>
                <a:spcPts val="0"/>
              </a:spcBef>
            </a:pPr>
            <a:r>
              <a:rPr sz="1800">
                <a:solidFill>
                  <a:srgbClr val="D4D4D4"/>
                </a:solidFill>
                <a:latin typeface="Consolas"/>
              </a:rPr>
              <a:t>    </a:t>
            </a:r>
            <a:r>
              <a:rPr sz="1800">
                <a:solidFill>
                  <a:srgbClr val="C586C0"/>
                </a:solidFill>
                <a:latin typeface="Consolas"/>
              </a:rPr>
              <a:t>for</a:t>
            </a:r>
            <a:r>
              <a:rPr sz="1800">
                <a:solidFill>
                  <a:srgbClr val="D4D4D4"/>
                </a:solidFill>
                <a:latin typeface="Consolas"/>
              </a:rPr>
              <a:t> </a:t>
            </a:r>
            <a:r>
              <a:rPr sz="1800">
                <a:solidFill>
                  <a:srgbClr val="9CDCFE"/>
                </a:solidFill>
                <a:latin typeface="Consolas"/>
              </a:rPr>
              <a:t>path</a:t>
            </a:r>
            <a:r>
              <a:rPr sz="1800">
                <a:solidFill>
                  <a:srgbClr val="D4D4D4"/>
                </a:solidFill>
                <a:latin typeface="Consolas"/>
              </a:rPr>
              <a:t> </a:t>
            </a:r>
            <a:r>
              <a:rPr sz="1800">
                <a:solidFill>
                  <a:srgbClr val="569CD6"/>
                </a:solidFill>
                <a:latin typeface="Consolas"/>
              </a:rPr>
              <a:t>in</a:t>
            </a:r>
            <a:r>
              <a:rPr sz="1800">
                <a:solidFill>
                  <a:srgbClr val="D4D4D4"/>
                </a:solidFill>
                <a:latin typeface="Consolas"/>
              </a:rPr>
              <a:t> </a:t>
            </a:r>
            <a:r>
              <a:rPr sz="1800">
                <a:solidFill>
                  <a:srgbClr val="9CDCFE"/>
                </a:solidFill>
                <a:latin typeface="Consolas"/>
              </a:rPr>
              <a:t>Path</a:t>
            </a:r>
            <a:r>
              <a:rPr sz="1800">
                <a:solidFill>
                  <a:srgbClr val="D4D4D4"/>
                </a:solidFill>
                <a:latin typeface="Consolas"/>
              </a:rPr>
              <a:t>(</a:t>
            </a:r>
            <a:r>
              <a:rPr sz="1800">
                <a:solidFill>
                  <a:srgbClr val="9CDCFE"/>
                </a:solidFill>
                <a:latin typeface="Consolas"/>
              </a:rPr>
              <a:t>folder</a:t>
            </a:r>
            <a:r>
              <a:rPr sz="1800">
                <a:solidFill>
                  <a:srgbClr val="D4D4D4"/>
                </a:solidFill>
                <a:latin typeface="Consolas"/>
              </a:rPr>
              <a:t>).</a:t>
            </a:r>
            <a:r>
              <a:rPr sz="1800">
                <a:solidFill>
                  <a:srgbClr val="9CDCFE"/>
                </a:solidFill>
                <a:latin typeface="Consolas"/>
              </a:rPr>
              <a:t>glob</a:t>
            </a:r>
            <a:r>
              <a:rPr sz="1800">
                <a:solidFill>
                  <a:srgbClr val="D4D4D4"/>
                </a:solidFill>
                <a:latin typeface="Consolas"/>
              </a:rPr>
              <a:t>(</a:t>
            </a:r>
            <a:r>
              <a:rPr sz="1800">
                <a:solidFill>
                  <a:srgbClr val="CE9178"/>
                </a:solidFill>
                <a:latin typeface="Consolas"/>
              </a:rPr>
              <a:t>"*.zip"</a:t>
            </a:r>
            <a:r>
              <a:rPr sz="1800">
                <a:solidFill>
                  <a:srgbClr val="D4D4D4"/>
                </a:solidFill>
                <a:latin typeface="Consolas"/>
              </a:rPr>
              <a:t>):</a:t>
            </a:r>
          </a:p>
          <a:p>
            <a:pPr algn="l">
              <a:lnSpc>
                <a:spcPct val="100000"/>
              </a:lnSpc>
              <a:spcBef>
                <a:spcPts val="0"/>
              </a:spcBef>
            </a:pPr>
            <a:r>
              <a:rPr sz="1800">
                <a:solidFill>
                  <a:srgbClr val="D4D4D4"/>
                </a:solidFill>
                <a:latin typeface="Consolas"/>
              </a:rPr>
              <a:t>        </a:t>
            </a:r>
            <a:r>
              <a:rPr sz="1800">
                <a:solidFill>
                  <a:srgbClr val="C586C0"/>
                </a:solidFill>
                <a:latin typeface="Consolas"/>
              </a:rPr>
              <a:t>if</a:t>
            </a:r>
            <a:r>
              <a:rPr sz="1800">
                <a:solidFill>
                  <a:srgbClr val="D4D4D4"/>
                </a:solidFill>
                <a:latin typeface="Consolas"/>
              </a:rPr>
              <a:t> </a:t>
            </a:r>
            <a:r>
              <a:rPr sz="1800">
                <a:solidFill>
                  <a:srgbClr val="9CDCFE"/>
                </a:solidFill>
                <a:latin typeface="Consolas"/>
              </a:rPr>
              <a:t>path</a:t>
            </a:r>
            <a:r>
              <a:rPr sz="1800">
                <a:solidFill>
                  <a:srgbClr val="D4D4D4"/>
                </a:solidFill>
                <a:latin typeface="Consolas"/>
              </a:rPr>
              <a:t>.</a:t>
            </a:r>
            <a:r>
              <a:rPr sz="1800">
                <a:solidFill>
                  <a:srgbClr val="9CDCFE"/>
                </a:solidFill>
                <a:latin typeface="Consolas"/>
              </a:rPr>
              <a:t>stat</a:t>
            </a:r>
            <a:r>
              <a:rPr sz="1800">
                <a:solidFill>
                  <a:srgbClr val="D4D4D4"/>
                </a:solidFill>
                <a:latin typeface="Consolas"/>
              </a:rPr>
              <a:t>().</a:t>
            </a:r>
            <a:r>
              <a:rPr sz="1800">
                <a:solidFill>
                  <a:srgbClr val="9CDCFE"/>
                </a:solidFill>
                <a:latin typeface="Consolas"/>
              </a:rPr>
              <a:t>st_mtime</a:t>
            </a:r>
            <a:r>
              <a:rPr sz="1800">
                <a:solidFill>
                  <a:srgbClr val="D4D4D4"/>
                </a:solidFill>
                <a:latin typeface="Consolas"/>
              </a:rPr>
              <a:t> &lt; </a:t>
            </a:r>
            <a:r>
              <a:rPr sz="1800">
                <a:solidFill>
                  <a:srgbClr val="9CDCFE"/>
                </a:solidFill>
                <a:latin typeface="Consolas"/>
              </a:rPr>
              <a:t>cutoff</a:t>
            </a:r>
            <a:r>
              <a:rPr sz="1800">
                <a:solidFill>
                  <a:srgbClr val="D4D4D4"/>
                </a:solidFill>
                <a:latin typeface="Consolas"/>
              </a:rPr>
              <a:t>:</a:t>
            </a:r>
          </a:p>
          <a:p>
            <a:pPr algn="l">
              <a:lnSpc>
                <a:spcPct val="100000"/>
              </a:lnSpc>
              <a:spcBef>
                <a:spcPts val="0"/>
              </a:spcBef>
            </a:pPr>
            <a:r>
              <a:rPr sz="1800">
                <a:solidFill>
                  <a:srgbClr val="D4D4D4"/>
                </a:solidFill>
                <a:latin typeface="Consolas"/>
              </a:rPr>
              <a:t>            </a:t>
            </a:r>
            <a:r>
              <a:rPr sz="1800">
                <a:solidFill>
                  <a:srgbClr val="9CDCFE"/>
                </a:solidFill>
                <a:latin typeface="Consolas"/>
              </a:rPr>
              <a:t>path</a:t>
            </a:r>
            <a:r>
              <a:rPr sz="1800">
                <a:solidFill>
                  <a:srgbClr val="D4D4D4"/>
                </a:solidFill>
                <a:latin typeface="Consolas"/>
              </a:rPr>
              <a:t>.</a:t>
            </a:r>
            <a:r>
              <a:rPr sz="1800">
                <a:solidFill>
                  <a:srgbClr val="9CDCFE"/>
                </a:solidFill>
                <a:latin typeface="Consolas"/>
              </a:rPr>
              <a:t>unlink</a:t>
            </a:r>
            <a:r>
              <a:rPr sz="1800">
                <a:solidFill>
                  <a:srgbClr val="D4D4D4"/>
                </a:solidFill>
                <a:latin typeface="Consolas"/>
              </a:rPr>
              <a:t>()</a:t>
            </a:r>
          </a:p>
        </p:txBody>
      </p:sp>
      <p:sp>
        <p:nvSpPr>
          <p:cNvPr id="3" name="Content Placeholder 2"/>
          <p:cNvSpPr>
            <a:spLocks noGrp="1"/>
          </p:cNvSpPr>
          <p:nvPr>
            <p:ph idx="1"/>
          </p:nvPr>
        </p:nvSpPr>
        <p:spPr>
          <a:xfrm>
            <a:off x="838200" y="4934585"/>
            <a:ext cx="10515600" cy="1242378"/>
          </a:xfrm>
        </p:spPr>
        <p:txBody>
          <a:bodyPr>
            <a:normAutofit fontScale="85000"/>
          </a:bodyPr>
          <a:lstStyle/>
          <a:p>
            <a:pPr marL="0" indent="0">
              <a:buNone/>
            </a:pPr>
            <a:r>
              <a:rPr b="1"/>
              <a:t>Reply:</a:t>
            </a:r>
            <a:r>
              <a:t> “It deletes every .zip in the given folder whose modified time is older than 30 days. Despite the name, it never creates a backup.”</a:t>
            </a:r>
          </a:p>
          <a:p>
            <a:pPr/>
            <a:r>
              <a:t>Not smarter. </a:t>
            </a:r>
            <a:r>
              <a:rPr b="1"/>
              <a:t>It could see more</a:t>
            </a:r>
            <a:r>
              <a:t> — and now you can check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Why "explain" is the safer ask</a:t>
            </a:r>
          </a:p>
        </p:txBody>
      </p:sp>
      <p:sp>
        <p:nvSpPr>
          <p:cNvPr id="3" name="Text Placeholder 2"/>
          <p:cNvSpPr>
            <a:spLocks noGrp="1"/>
          </p:cNvSpPr>
          <p:nvPr>
            <p:ph type="body" idx="1"/>
          </p:nvPr>
        </p:nvSpPr>
        <p:spPr/>
        <p:txBody>
          <a:bodyPr/>
          <a:lstStyle/>
          <a:p>
            <a:r>
              <a:t>Ask it to </a:t>
            </a:r>
            <a:r>
              <a:rPr b="1"/>
              <a:t>explain</a:t>
            </a:r>
          </a:p>
        </p:txBody>
      </p:sp>
      <p:sp>
        <p:nvSpPr>
          <p:cNvPr id="4" name="Content Placeholder 3"/>
          <p:cNvSpPr>
            <a:spLocks noGrp="1"/>
          </p:cNvSpPr>
          <p:nvPr>
            <p:ph idx="2" sz="half"/>
          </p:nvPr>
        </p:nvSpPr>
        <p:spPr>
          <a:xfrm>
            <a:off x="839788" y="2505075"/>
            <a:ext cx="5157787" cy="3081084"/>
          </a:xfrm>
        </p:spPr>
        <p:txBody>
          <a:bodyPr>
            <a:normAutofit fontScale="85000"/>
          </a:bodyPr>
          <a:lstStyle/>
          <a:p>
            <a:pPr/>
            <a:r>
              <a:t>Checked against code </a:t>
            </a:r>
            <a:r>
              <a:rPr b="1"/>
              <a:t>in front of you</a:t>
            </a:r>
          </a:p>
          <a:p>
            <a:pPr/>
            <a:r>
              <a:t>Checked by </a:t>
            </a:r>
            <a:r>
              <a:rPr b="1"/>
              <a:t>reading</a:t>
            </a:r>
            <a:r>
              <a:t>, now</a:t>
            </a:r>
          </a:p>
          <a:p>
            <a:pPr/>
            <a:r>
              <a:t>Wrong answers caught while you hold the context</a:t>
            </a:r>
          </a:p>
          <a:p>
            <a:pPr/>
            <a:r>
              <a:t>Leaves you </a:t>
            </a:r>
            <a:r>
              <a:rPr b="1"/>
              <a:t>understanding</a:t>
            </a:r>
          </a:p>
        </p:txBody>
      </p:sp>
      <p:sp>
        <p:nvSpPr>
          <p:cNvPr id="5" name="Text Placeholder 4"/>
          <p:cNvSpPr>
            <a:spLocks noGrp="1"/>
          </p:cNvSpPr>
          <p:nvPr>
            <p:ph type="body" idx="3" sz="quarter"/>
          </p:nvPr>
        </p:nvSpPr>
        <p:spPr/>
        <p:txBody>
          <a:bodyPr/>
          <a:lstStyle/>
          <a:p>
            <a:r>
              <a:t>Ask it to </a:t>
            </a:r>
            <a:r>
              <a:rPr b="1"/>
              <a:t>write</a:t>
            </a:r>
          </a:p>
        </p:txBody>
      </p:sp>
      <p:sp>
        <p:nvSpPr>
          <p:cNvPr id="6" name="Content Placeholder 5"/>
          <p:cNvSpPr>
            <a:spLocks noGrp="1"/>
          </p:cNvSpPr>
          <p:nvPr>
            <p:ph idx="4" sz="quarter"/>
          </p:nvPr>
        </p:nvSpPr>
        <p:spPr>
          <a:xfrm>
            <a:off x="6172200" y="2505075"/>
            <a:ext cx="5183188" cy="3081084"/>
          </a:xfrm>
        </p:spPr>
        <p:txBody>
          <a:bodyPr>
            <a:normAutofit fontScale="85000"/>
          </a:bodyPr>
          <a:lstStyle/>
          <a:p>
            <a:pPr/>
            <a:r>
              <a:t>Checked against a spec you may not have written</a:t>
            </a:r>
          </a:p>
          <a:p>
            <a:pPr/>
            <a:r>
              <a:t>Checked by </a:t>
            </a:r>
            <a:r>
              <a:rPr b="1"/>
              <a:t>running</a:t>
            </a:r>
            <a:r>
              <a:t>, later</a:t>
            </a:r>
          </a:p>
          <a:p>
            <a:pPr/>
            <a:r>
              <a:t>Wrong answers surface when something breaks</a:t>
            </a:r>
          </a:p>
          <a:p>
            <a:pPr/>
            <a:r>
              <a:t>Leaves you a </a:t>
            </a:r>
            <a:r>
              <a:rPr b="1"/>
              <a:t>file</a:t>
            </a:r>
            <a:r>
              <a:t>, to understand anyway</a:t>
            </a:r>
          </a:p>
        </p:txBody>
      </p:sp>
      <p:sp>
        <p:nvSpPr>
          <p:cNvPr id="7" name="Text 7"/>
          <p:cNvSpPr txBox="1"/>
          <p:nvPr/>
        </p:nvSpPr>
        <p:spPr>
          <a:xfrm>
            <a:off x="839788" y="5769039"/>
            <a:ext cx="10515600" cy="420624"/>
          </a:xfrm>
          <a:prstGeom prst="rect">
            <a:avLst/>
          </a:prstGeom>
          <a:noFill/>
        </p:spPr>
        <p:txBody>
          <a:bodyPr wrap="square">
            <a:normAutofit fontScale="85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r>
              <a:t>Same mechanism both times. The difference is how cheap the </a:t>
            </a:r>
            <a:r>
              <a:rPr b="1"/>
              <a:t>check</a:t>
            </a:r>
            <a:r>
              <a:t>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7" grpId="0" build="p"/>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Try it now: the same ask, twice</a:t>
            </a:r>
          </a:p>
        </p:txBody>
      </p:sp>
      <p:sp>
        <p:nvSpPr>
          <p:cNvPr id="3" name="Content Placeholder 2"/>
          <p:cNvSpPr>
            <a:spLocks noGrp="1"/>
          </p:cNvSpPr>
          <p:nvPr>
            <p:ph idx="1"/>
          </p:nvPr>
        </p:nvSpPr>
        <p:spPr>
          <a:xfrm>
            <a:off x="838200" y="1825625"/>
            <a:ext cx="10515600" cy="4351338"/>
          </a:xfrm>
        </p:spPr>
        <p:txBody>
          <a:bodyPr>
            <a:normAutofit fontScale="77500"/>
          </a:bodyPr>
          <a:lstStyle/>
          <a:p>
            <a:pPr marL="0" indent="0">
              <a:buNone/>
            </a:pPr>
            <a:r>
              <a:rPr b="1"/>
              <a:t>Prompt:</a:t>
            </a:r>
            <a:r>
              <a:t> “Write a Python function calculate_median(numbers) that returns the median of a list of numbers.”</a:t>
            </a:r>
          </a:p>
          <a:p>
            <a:pPr/>
            <a:r>
              <a:t>Ask it in a </a:t>
            </a:r>
            <a:r>
              <a:rPr b="1"/>
              <a:t>fresh</a:t>
            </a:r>
            <a:r>
              <a:t> conversation. Keep the answer</a:t>
            </a:r>
          </a:p>
          <a:p>
            <a:pPr/>
            <a:r>
              <a:t>Open </a:t>
            </a:r>
            <a:r>
              <a:rPr b="1"/>
              <a:t>another</a:t>
            </a:r>
            <a:r>
              <a:t> fresh conversation and ask exactly the same thing</a:t>
            </a:r>
          </a:p>
          <a:p>
            <a:pPr/>
            <a:r>
              <a:t>Put the two side by side</a:t>
            </a:r>
          </a:p>
          <a:p>
            <a:pPr/>
            <a:r>
              <a:rPr b="1"/>
              <a:t>Notice:</a:t>
            </a:r>
            <a:r>
              <a:t> empty list — exception, </a:t>
            </a:r>
            <a:r>
              <a:rPr>
                <a:latin typeface="Consolas"/>
              </a:rPr>
              <a:t>None</a:t>
            </a:r>
            <a:r>
              <a:t>, or silence? Even count — the mean of the middle two, or one of them? Neither answer told you it had decided</a:t>
            </a:r>
          </a:p>
          <a:p>
            <a:pPr/>
            <a:r>
              <a:t>If the two differ at all, that is </a:t>
            </a:r>
            <a:r>
              <a:rPr b="1"/>
              <a:t>sampling</a:t>
            </a:r>
            <a:r>
              <a:t>: there was no single answer in there to retrieve</a:t>
            </a:r>
          </a:p>
          <a:p>
            <a:pPr marL="0" indent="0">
              <a:buNone/>
            </a:pPr>
            <a:r>
              <a:rPr i="1"/>
              <a:t>seven minutes, on your own laptop, with whatever assistant you have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What you should have seen</a:t>
            </a:r>
          </a:p>
        </p:txBody>
      </p:sp>
      <p:sp>
        <p:nvSpPr>
          <p:cNvPr id="3" name="Content Placeholder 2"/>
          <p:cNvSpPr>
            <a:spLocks noGrp="1"/>
          </p:cNvSpPr>
          <p:nvPr>
            <p:ph idx="1"/>
          </p:nvPr>
        </p:nvSpPr>
        <p:spPr>
          <a:xfrm>
            <a:off x="838200" y="1825625"/>
            <a:ext cx="10515600" cy="4351338"/>
          </a:xfrm>
        </p:spPr>
        <p:txBody>
          <a:bodyPr>
            <a:normAutofit/>
          </a:bodyPr>
          <a:lstStyle/>
          <a:p>
            <a:pPr/>
            <a:r>
              <a:t>Two fluent answers, possibly different — a ranked list sampled twice, not a stored function found twice</a:t>
            </a:r>
          </a:p>
          <a:p>
            <a:pPr/>
            <a:r>
              <a:t>The empty list handled </a:t>
            </a:r>
            <a:r>
              <a:rPr b="1"/>
              <a:t>somehow</a:t>
            </a:r>
            <a:r>
              <a:t>, and the even count handled </a:t>
            </a:r>
            <a:r>
              <a:rPr b="1"/>
              <a:t>somehow</a:t>
            </a:r>
            <a:r>
              <a:t>, without either answer saying it chose</a:t>
            </a:r>
          </a:p>
          <a:p>
            <a:pPr/>
            <a:r>
              <a:t>The fix is part 1's skill on part 2's mechanism: make the decision, and put it in the context</a:t>
            </a:r>
          </a:p>
          <a:p>
            <a:pPr marL="0" indent="0">
              <a:buNone/>
            </a:pPr>
            <a:r>
              <a:rPr b="1"/>
              <a:t>Better prompt:</a:t>
            </a:r>
            <a:r>
              <a:t> “Write a Python function calculate_median(numbers) that returns the median of a list of numbers. Raise ValueError on an empty list.</a:t>
            </a:r>
            <a:br/>
            <a:r>
              <a:t>For an even count, return the mean of the two middle values.”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The question, answered</a:t>
            </a:r>
          </a:p>
        </p:txBody>
      </p:sp>
      <p:sp>
        <p:nvSpPr>
          <p:cNvPr id="4" name="Code 4" descr="Code, python, no-parse"/>
          <p:cNvSpPr/>
          <p:nvPr/>
        </p:nvSpPr>
        <p:spPr>
          <a:xfrm>
            <a:off x="929640" y="1825625"/>
            <a:ext cx="5394960" cy="548639"/>
          </a:xfrm>
          <a:prstGeom prst="roundRect">
            <a:avLst>
              <a:gd name="adj" fmla="val 13333"/>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noAutofit/>
          </a:bodyPr>
          <a:lstStyle/>
          <a:p>
            <a:pPr algn="l">
              <a:lnSpc>
                <a:spcPct val="100000"/>
              </a:lnSpc>
              <a:spcBef>
                <a:spcPts val="0"/>
              </a:spcBef>
            </a:pPr>
            <a:r>
              <a:rPr sz="2400">
                <a:solidFill>
                  <a:srgbClr val="569CD6"/>
                </a:solidFill>
                <a:latin typeface="Consolas"/>
              </a:rPr>
              <a:t>def</a:t>
            </a:r>
            <a:r>
              <a:rPr sz="2400">
                <a:solidFill>
                  <a:srgbClr val="D4D4D4"/>
                </a:solidFill>
                <a:latin typeface="Consolas"/>
              </a:rPr>
              <a:t> </a:t>
            </a:r>
            <a:r>
              <a:rPr sz="2400">
                <a:solidFill>
                  <a:srgbClr val="DCDCAA"/>
                </a:solidFill>
                <a:latin typeface="Consolas"/>
              </a:rPr>
              <a:t>calculate_median</a:t>
            </a:r>
            <a:r>
              <a:rPr sz="2400">
                <a:solidFill>
                  <a:srgbClr val="D4D4D4"/>
                </a:solidFill>
                <a:latin typeface="Consolas"/>
              </a:rPr>
              <a:t>(</a:t>
            </a:r>
            <a:r>
              <a:rPr sz="2400">
                <a:solidFill>
                  <a:srgbClr val="9CDCFE"/>
                </a:solidFill>
                <a:latin typeface="Consolas"/>
              </a:rPr>
              <a:t>numbers</a:t>
            </a:r>
            <a:r>
              <a:rPr sz="2400">
                <a:solidFill>
                  <a:srgbClr val="D4D4D4"/>
                </a:solidFill>
                <a:latin typeface="Consolas"/>
              </a:rPr>
              <a:t>):</a:t>
            </a:r>
          </a:p>
        </p:txBody>
      </p:sp>
      <p:sp>
        <p:nvSpPr>
          <p:cNvPr id="3" name="Content Placeholder 2"/>
          <p:cNvSpPr>
            <a:spLocks noGrp="1"/>
          </p:cNvSpPr>
          <p:nvPr>
            <p:ph idx="1"/>
          </p:nvPr>
        </p:nvSpPr>
        <p:spPr>
          <a:xfrm>
            <a:off x="838200" y="2557144"/>
            <a:ext cx="10515600" cy="3619819"/>
          </a:xfrm>
        </p:spPr>
        <p:txBody>
          <a:bodyPr>
            <a:normAutofit/>
          </a:bodyPr>
          <a:lstStyle/>
          <a:p>
            <a:pPr/>
            <a:r>
              <a:rPr b="1"/>
              <a:t>How did it know?</a:t>
            </a:r>
            <a:r>
              <a:t> The signature is context. A body has followed a line like that many times in its training text, so a body tops the ranked list</a:t>
            </a:r>
          </a:p>
          <a:p>
            <a:pPr/>
            <a:r>
              <a:rPr b="1"/>
              <a:t>Why confidently wrong?</a:t>
            </a:r>
            <a:r>
              <a:t> Likely is the whole criterion; "I don't know" ranks high only where training put it; and it cannot see what you did not show it</a:t>
            </a:r>
          </a:p>
          <a:p>
            <a:pPr marL="0" indent="0">
              <a:buNone/>
            </a:pPr>
            <a:r>
              <a:rPr b="1"/>
              <a:t>One mechanism. Both halves of the question.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Common mistakes</a:t>
            </a:r>
          </a:p>
        </p:txBody>
      </p:sp>
      <p:sp>
        <p:nvSpPr>
          <p:cNvPr id="3" name="Text Placeholder 2"/>
          <p:cNvSpPr>
            <a:spLocks noGrp="1"/>
          </p:cNvSpPr>
          <p:nvPr>
            <p:ph type="body" idx="1"/>
          </p:nvPr>
        </p:nvSpPr>
        <p:spPr/>
        <p:txBody>
          <a:bodyPr/>
          <a:lstStyle/>
          <a:p>
            <a:r>
              <a:t>When you ask</a:t>
            </a:r>
          </a:p>
        </p:txBody>
      </p:sp>
      <p:sp>
        <p:nvSpPr>
          <p:cNvPr id="4" name="Content Placeholder 3"/>
          <p:cNvSpPr>
            <a:spLocks noGrp="1"/>
          </p:cNvSpPr>
          <p:nvPr>
            <p:ph idx="2" sz="half"/>
          </p:nvPr>
        </p:nvSpPr>
        <p:spPr>
          <a:xfrm>
            <a:off x="839788" y="2505075"/>
            <a:ext cx="5157787" cy="3684588"/>
          </a:xfrm>
        </p:spPr>
        <p:txBody>
          <a:bodyPr>
            <a:normAutofit fontScale="77500"/>
          </a:bodyPr>
          <a:lstStyle/>
          <a:p>
            <a:pPr/>
            <a:r>
              <a:t>Believing it </a:t>
            </a:r>
            <a:r>
              <a:rPr b="1"/>
              <a:t>looked something up</a:t>
            </a:r>
          </a:p>
          <a:p>
            <a:pPr/>
            <a:r>
              <a:t>Giving it a vague ask, then blaming it for guessing</a:t>
            </a:r>
          </a:p>
          <a:p>
            <a:pPr/>
            <a:r>
              <a:t>Not showing it the code it needs to see</a:t>
            </a:r>
          </a:p>
          <a:p>
            <a:pPr/>
            <a:r>
              <a:t>Expecting it to remember another conversation</a:t>
            </a:r>
          </a:p>
          <a:p>
            <a:pPr/>
            <a:r>
              <a:t>Letting it answer a question you should have questioned</a:t>
            </a:r>
          </a:p>
        </p:txBody>
      </p:sp>
      <p:sp>
        <p:nvSpPr>
          <p:cNvPr id="5" name="Text Placeholder 4"/>
          <p:cNvSpPr>
            <a:spLocks noGrp="1"/>
          </p:cNvSpPr>
          <p:nvPr>
            <p:ph type="body" idx="3" sz="quarter"/>
          </p:nvPr>
        </p:nvSpPr>
        <p:spPr/>
        <p:txBody>
          <a:bodyPr/>
          <a:lstStyle/>
          <a:p>
            <a:r>
              <a:t>When you read the answer</a:t>
            </a:r>
          </a:p>
        </p:txBody>
      </p:sp>
      <p:sp>
        <p:nvSpPr>
          <p:cNvPr id="6" name="Content Placeholder 5"/>
          <p:cNvSpPr>
            <a:spLocks noGrp="1"/>
          </p:cNvSpPr>
          <p:nvPr>
            <p:ph idx="4" sz="quarter"/>
          </p:nvPr>
        </p:nvSpPr>
        <p:spPr>
          <a:xfrm>
            <a:off x="6172200" y="2505075"/>
            <a:ext cx="5183188" cy="3684588"/>
          </a:xfrm>
        </p:spPr>
        <p:txBody>
          <a:bodyPr>
            <a:normAutofit fontScale="77500"/>
          </a:bodyPr>
          <a:lstStyle/>
          <a:p>
            <a:pPr/>
            <a:r>
              <a:t>Trusting an answer because it is </a:t>
            </a:r>
            <a:r>
              <a:rPr b="1"/>
              <a:t>fluent</a:t>
            </a:r>
          </a:p>
          <a:p>
            <a:pPr/>
            <a:r>
              <a:t>Reading </a:t>
            </a:r>
            <a:r>
              <a:rPr i="1"/>
              <a:t>typically</a:t>
            </a:r>
            <a:r>
              <a:t> as a fact about </a:t>
            </a:r>
            <a:r>
              <a:rPr b="1"/>
              <a:t>your</a:t>
            </a:r>
            <a:r>
              <a:t> code</a:t>
            </a:r>
          </a:p>
          <a:p>
            <a:pPr/>
            <a:r>
              <a:t>Calling a hallucination a bug: it is the loop working</a:t>
            </a:r>
          </a:p>
          <a:p>
            <a:pPr/>
            <a:r>
              <a:t>Calling a different second answer a fault: it is sampling</a:t>
            </a:r>
          </a:p>
          <a:p>
            <a:pPr/>
            <a:r>
              <a:t>Asking "is this right?" in the chat that wrote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Where this picture is a simplification</a:t>
            </a:r>
          </a:p>
        </p:txBody>
      </p:sp>
      <p:sp>
        <p:nvSpPr>
          <p:cNvPr id="3" name="Content Placeholder 2"/>
          <p:cNvSpPr>
            <a:spLocks noGrp="1"/>
          </p:cNvSpPr>
          <p:nvPr>
            <p:ph idx="1"/>
          </p:nvPr>
        </p:nvSpPr>
        <p:spPr>
          <a:xfrm>
            <a:off x="838200" y="1825625"/>
            <a:ext cx="10515600" cy="4351338"/>
          </a:xfrm>
        </p:spPr>
        <p:txBody>
          <a:bodyPr>
            <a:normAutofit/>
          </a:bodyPr>
          <a:lstStyle/>
          <a:p>
            <a:pPr/>
            <a:r>
              <a:t>Some tools write out their reasoning before answering. It can catch mistakes, but it is still </a:t>
            </a:r>
            <a:r>
              <a:rPr b="1"/>
              <a:t>prediction checking prediction</a:t>
            </a:r>
          </a:p>
          <a:p>
            <a:pPr/>
            <a:r>
              <a:t>A test that actually runs is different: its result comes from </a:t>
            </a:r>
            <a:r>
              <a:rPr b="1"/>
              <a:t>executing the code</a:t>
            </a:r>
            <a:r>
              <a:t>, not from predicting it</a:t>
            </a:r>
          </a:p>
          <a:p>
            <a:pPr/>
            <a:r>
              <a:t>The mechanism predicts the behaviour. It says nothing about what the tools will be able to do in a year's time</a:t>
            </a:r>
          </a:p>
          <a:p>
            <a:pPr marL="0" indent="0">
              <a:buNone/>
            </a:pPr>
            <a:r>
              <a:rPr b="1"/>
              <a:t>What it says about </a:t>
            </a:r>
            <a:r>
              <a:rPr b="1" i="1"/>
              <a:t>your</a:t>
            </a:r>
            <a:r>
              <a:rPr b="1"/>
              <a:t> job — decide, supply the context, judge what came back — does not move.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rmAutofit/>
          </a:bodyPr>
          <a:lstStyle/>
          <a:p>
            <a:r>
              <a:t>Summary</a:t>
            </a:r>
          </a:p>
        </p:txBody>
      </p:sp>
      <p:sp>
        <p:nvSpPr>
          <p:cNvPr id="3" name="Text Placeholder 2"/>
          <p:cNvSpPr>
            <a:spLocks noGrp="1"/>
          </p:cNvSpPr>
          <p:nvPr>
            <p:ph type="body" idx="1"/>
          </p:nvPr>
        </p:nvSpPr>
        <p:spPr/>
        <p:txBody>
          <a:bodyPr/>
          <a:lstStyle/>
          <a:p>
            <a:r>
              <a:t>Part 1: what it is</a:t>
            </a:r>
          </a:p>
        </p:txBody>
      </p:sp>
      <p:sp>
        <p:nvSpPr>
          <p:cNvPr id="4" name="Content Placeholder 3"/>
          <p:cNvSpPr>
            <a:spLocks noGrp="1"/>
          </p:cNvSpPr>
          <p:nvPr>
            <p:ph idx="2" sz="half"/>
          </p:nvPr>
        </p:nvSpPr>
        <p:spPr>
          <a:xfrm>
            <a:off x="839788" y="2505075"/>
            <a:ext cx="5157787" cy="3684588"/>
          </a:xfrm>
        </p:spPr>
        <p:txBody>
          <a:bodyPr>
            <a:normAutofit fontScale="77500"/>
          </a:bodyPr>
          <a:lstStyle/>
          <a:p>
            <a:pPr/>
            <a:r>
              <a:t>It </a:t>
            </a:r>
            <a:r>
              <a:rPr b="1"/>
              <a:t>predicts plausible text</a:t>
            </a:r>
            <a:r>
              <a:t>. It does not retrieve, and it does not verify</a:t>
            </a:r>
          </a:p>
          <a:p>
            <a:pPr/>
            <a:r>
              <a:t>Brilliance and hallucination are the </a:t>
            </a:r>
            <a:r>
              <a:rPr b="1"/>
              <a:t>same mechanism</a:t>
            </a:r>
          </a:p>
          <a:p>
            <a:pPr/>
            <a:r>
              <a:t>Four shapes — completion, chat, edit, agent — told apart by what each may touch; the products change yearly</a:t>
            </a:r>
          </a:p>
          <a:p>
            <a:pPr/>
            <a:r>
              <a:t>Good at conventional, weak at novel, recent, or specific to you</a:t>
            </a:r>
          </a:p>
        </p:txBody>
      </p:sp>
      <p:sp>
        <p:nvSpPr>
          <p:cNvPr id="5" name="Text Placeholder 4"/>
          <p:cNvSpPr>
            <a:spLocks noGrp="1"/>
          </p:cNvSpPr>
          <p:nvPr>
            <p:ph type="body" idx="3" sz="quarter"/>
          </p:nvPr>
        </p:nvSpPr>
        <p:spPr/>
        <p:txBody>
          <a:bodyPr/>
          <a:lstStyle/>
          <a:p>
            <a:r>
              <a:t>Part 2: how it works</a:t>
            </a:r>
          </a:p>
        </p:txBody>
      </p:sp>
      <p:sp>
        <p:nvSpPr>
          <p:cNvPr id="6" name="Content Placeholder 5"/>
          <p:cNvSpPr>
            <a:spLocks noGrp="1"/>
          </p:cNvSpPr>
          <p:nvPr>
            <p:ph idx="4" sz="quarter"/>
          </p:nvPr>
        </p:nvSpPr>
        <p:spPr>
          <a:xfrm>
            <a:off x="6172200" y="2505075"/>
            <a:ext cx="5183188" cy="3684588"/>
          </a:xfrm>
        </p:spPr>
        <p:txBody>
          <a:bodyPr>
            <a:normAutofit fontScale="77500"/>
          </a:bodyPr>
          <a:lstStyle/>
          <a:p>
            <a:pPr/>
            <a:r>
              <a:t>Under the bonnet: tokens in, a </a:t>
            </a:r>
            <a:r>
              <a:rPr b="1"/>
              <a:t>ranked list</a:t>
            </a:r>
            <a:r>
              <a:t> out, one picked, repeat — over a finite context, with weights your conversation never changes</a:t>
            </a:r>
          </a:p>
          <a:p>
            <a:pPr/>
            <a:r>
              <a:t>The context is the only thing you steer: what it can see, how the ask is framed, and whether the conversation is fresh</a:t>
            </a:r>
          </a:p>
          <a:p>
            <a:pPr marL="0" indent="0">
              <a:buNone/>
            </a:pPr>
            <a:r>
              <a:rPr b="1"/>
              <a:t>The typing got cheap. Deciding what should exist, and judging what came back, did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47855545-00bb-4800-a65f-e79104ec0fc4}" enabled="0" method="" siteId="{47855545-00bb-4800-a65f-e79104ec0fc4}" removed="1"/>
</clbl:labelList>
</file>

<file path=docProps/app.xml><?xml version="1.0" encoding="utf-8"?>
<Properties xmlns="http://schemas.openxmlformats.org/officeDocument/2006/extended-properties" xmlns:vt="http://schemas.openxmlformats.org/officeDocument/2006/docPropsVTypes">
  <TotalTime>0</TotalTime>
  <Words>16</Words>
  <Application>Microsoft Office PowerPoint</Application>
  <PresentationFormat>Widescreen</PresentationFormat>
  <Paragraphs>8</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Sample Title</vt:lpstr>
      <vt:lpstr>Sample Title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AI-Assisted Programming Actually Is</dc:title>
  <dc:creator>Daniel Cregg</dc:creator>
  <cp:lastModifiedBy>powerpoint-maker</cp:lastModifiedBy>
  <cp:revision>1</cp:revision>
  <dcterms:created xsi:type="dcterms:W3CDTF">2025-10-09T21:23:54Z</dcterms:created>
  <dcterms:modified xsi:type="dcterms:W3CDTF">2025-10-09T21:24:37Z</dcterms:modified>
</cp:coreProperties>
</file>